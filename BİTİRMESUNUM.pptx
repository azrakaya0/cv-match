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974" r:id="rId1"/>
  </p:sldMasterIdLst>
  <p:notesMasterIdLst>
    <p:notesMasterId r:id="rId33"/>
  </p:notesMasterIdLst>
  <p:handoutMasterIdLst>
    <p:handoutMasterId r:id="rId34"/>
  </p:handoutMasterIdLst>
  <p:sldIdLst>
    <p:sldId id="256" r:id="rId2"/>
    <p:sldId id="268" r:id="rId3"/>
    <p:sldId id="272" r:id="rId4"/>
    <p:sldId id="258" r:id="rId5"/>
    <p:sldId id="288" r:id="rId6"/>
    <p:sldId id="259" r:id="rId7"/>
    <p:sldId id="289" r:id="rId8"/>
    <p:sldId id="290" r:id="rId9"/>
    <p:sldId id="260" r:id="rId10"/>
    <p:sldId id="291" r:id="rId11"/>
    <p:sldId id="304" r:id="rId12"/>
    <p:sldId id="261" r:id="rId13"/>
    <p:sldId id="293" r:id="rId14"/>
    <p:sldId id="305" r:id="rId15"/>
    <p:sldId id="306" r:id="rId16"/>
    <p:sldId id="269" r:id="rId17"/>
    <p:sldId id="294" r:id="rId18"/>
    <p:sldId id="295" r:id="rId19"/>
    <p:sldId id="296" r:id="rId20"/>
    <p:sldId id="270" r:id="rId21"/>
    <p:sldId id="297" r:id="rId22"/>
    <p:sldId id="262" r:id="rId23"/>
    <p:sldId id="263" r:id="rId24"/>
    <p:sldId id="265" r:id="rId25"/>
    <p:sldId id="299" r:id="rId26"/>
    <p:sldId id="300" r:id="rId27"/>
    <p:sldId id="266" r:id="rId28"/>
    <p:sldId id="301" r:id="rId29"/>
    <p:sldId id="302" r:id="rId30"/>
    <p:sldId id="303" r:id="rId31"/>
    <p:sldId id="26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DF7EC3-CF39-4489-BD0C-6C7D8665F52A}" v="541" dt="2026-04-02T12:40:14.714"/>
    <p1510:client id="{31C2395F-4CA5-46AC-BD9D-8162925FBB10}" v="326" dt="2026-04-02T14:25:21.434"/>
    <p1510:client id="{4069E72A-BE90-46DE-85AA-491A65561F1F}" v="699" dt="2026-04-01T22:26:03.359"/>
    <p1510:client id="{A56C5223-F6AA-4469-AA77-2B1032EAD993}" v="553" dt="2026-04-02T10:58:50.679"/>
    <p1510:client id="{E1B6A6EB-C561-42D3-A2FD-9E7221DE50B1}" v="110" dt="2026-04-02T14:48:15.847"/>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7F906A82-C142-E73E-3793-9367D82AEC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A3C37944-3ED6-48E3-1C11-52F0A95A27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0D4194-5A40-41C1-8F2E-344AC6759E0C}" type="datetime1">
              <a:rPr lang="tr-TR" smtClean="0"/>
              <a:t>2.04.2026</a:t>
            </a:fld>
            <a:endParaRPr lang="tr-TR"/>
          </a:p>
        </p:txBody>
      </p:sp>
      <p:sp>
        <p:nvSpPr>
          <p:cNvPr id="4" name="Alt Bilgi Yer Tutucusu 3">
            <a:extLst>
              <a:ext uri="{FF2B5EF4-FFF2-40B4-BE49-F238E27FC236}">
                <a16:creationId xmlns:a16="http://schemas.microsoft.com/office/drawing/2014/main" id="{87E78E40-2BDA-35BA-CE55-D69DF5B64F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E149AF9B-A1B6-186C-878A-9829E8EDE31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DA78D4-7AB3-4766-B225-1168D968C1C8}" type="slidenum">
              <a:rPr lang="tr-TR" smtClean="0"/>
              <a:t>‹#›</a:t>
            </a:fld>
            <a:endParaRPr lang="tr-TR"/>
          </a:p>
        </p:txBody>
      </p:sp>
    </p:spTree>
    <p:extLst>
      <p:ext uri="{BB962C8B-B14F-4D97-AF65-F5344CB8AC3E}">
        <p14:creationId xmlns:p14="http://schemas.microsoft.com/office/powerpoint/2010/main" val="107341367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93036-1B9F-4931-8FA3-3FAD18214C26}" type="datetime1">
              <a:rPr lang="tr-TR" smtClean="0"/>
              <a:t>2.04.2026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CDC8D4-A789-4516-B14B-9BBC11A1EC59}" type="slidenum">
              <a:rPr lang="tr-TR" smtClean="0"/>
              <a:t>‹#›</a:t>
            </a:fld>
            <a:endParaRPr lang="tr-TR"/>
          </a:p>
        </p:txBody>
      </p:sp>
    </p:spTree>
    <p:extLst>
      <p:ext uri="{BB962C8B-B14F-4D97-AF65-F5344CB8AC3E}">
        <p14:creationId xmlns:p14="http://schemas.microsoft.com/office/powerpoint/2010/main" val="3160855685"/>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Üstbilgi Yer Tutucusu 3"/>
          <p:cNvSpPr>
            <a:spLocks noGrp="1"/>
          </p:cNvSpPr>
          <p:nvPr>
            <p:ph type="hdr" sz="quarter" idx="10"/>
          </p:nvPr>
        </p:nvSpPr>
        <p:spPr/>
        <p:txBody>
          <a:bodyPr/>
          <a:lstStyle/>
          <a:p>
            <a:endParaRPr lang="tr-TR"/>
          </a:p>
        </p:txBody>
      </p:sp>
      <p:sp>
        <p:nvSpPr>
          <p:cNvPr id="5" name="Veri Yer Tutucusu 4"/>
          <p:cNvSpPr>
            <a:spLocks noGrp="1"/>
          </p:cNvSpPr>
          <p:nvPr>
            <p:ph type="dt" idx="11"/>
          </p:nvPr>
        </p:nvSpPr>
        <p:spPr/>
        <p:txBody>
          <a:bodyPr/>
          <a:lstStyle/>
          <a:p>
            <a:fld id="{83793036-1B9F-4931-8FA3-3FAD18214C26}" type="datetime1">
              <a:rPr lang="tr-TR" smtClean="0"/>
              <a:t>2.04.2026</a:t>
            </a:fld>
            <a:endParaRPr lang="tr-TR"/>
          </a:p>
        </p:txBody>
      </p:sp>
      <p:sp>
        <p:nvSpPr>
          <p:cNvPr id="6" name="Altbilgi Yer Tutucusu 5"/>
          <p:cNvSpPr>
            <a:spLocks noGrp="1"/>
          </p:cNvSpPr>
          <p:nvPr>
            <p:ph type="ftr" sz="quarter" idx="12"/>
          </p:nvPr>
        </p:nvSpPr>
        <p:spPr/>
        <p:txBody>
          <a:bodyPr/>
          <a:lstStyle/>
          <a:p>
            <a:endParaRPr lang="tr-TR"/>
          </a:p>
        </p:txBody>
      </p:sp>
      <p:sp>
        <p:nvSpPr>
          <p:cNvPr id="7" name="Slayt Numarası Yer Tutucusu 6"/>
          <p:cNvSpPr>
            <a:spLocks noGrp="1"/>
          </p:cNvSpPr>
          <p:nvPr>
            <p:ph type="sldNum" sz="quarter" idx="13"/>
          </p:nvPr>
        </p:nvSpPr>
        <p:spPr/>
        <p:txBody>
          <a:bodyPr/>
          <a:lstStyle/>
          <a:p>
            <a:fld id="{75CDC8D4-A789-4516-B14B-9BBC11A1EC59}" type="slidenum">
              <a:rPr lang="tr-TR" smtClean="0"/>
              <a:t>0</a:t>
            </a:fld>
            <a:endParaRPr lang="tr-TR"/>
          </a:p>
        </p:txBody>
      </p:sp>
    </p:spTree>
    <p:extLst>
      <p:ext uri="{BB962C8B-B14F-4D97-AF65-F5344CB8AC3E}">
        <p14:creationId xmlns:p14="http://schemas.microsoft.com/office/powerpoint/2010/main" val="26137994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aşlık Slaydı">
    <p:spTree>
      <p:nvGrpSpPr>
        <p:cNvPr id="1" name=""/>
        <p:cNvGrpSpPr/>
        <p:nvPr/>
      </p:nvGrpSpPr>
      <p:grpSpPr>
        <a:xfrm>
          <a:off x="0" y="0"/>
          <a:ext cx="0" cy="0"/>
          <a:chOff x="0" y="0"/>
          <a:chExt cx="0" cy="0"/>
        </a:xfrm>
      </p:grpSpPr>
      <p:pic>
        <p:nvPicPr>
          <p:cNvPr id="8" name="Resim 7">
            <a:extLst>
              <a:ext uri="{FF2B5EF4-FFF2-40B4-BE49-F238E27FC236}">
                <a16:creationId xmlns:a16="http://schemas.microsoft.com/office/drawing/2014/main" id="{6AD0020F-EA06-98B7-5F21-8C893DE37D02}"/>
              </a:ext>
            </a:extLst>
          </p:cNvPr>
          <p:cNvPicPr>
            <a:picLocks noChangeAspect="1"/>
          </p:cNvPicPr>
          <p:nvPr userDrawn="1"/>
        </p:nvPicPr>
        <p:blipFill>
          <a:blip r:embed="rId2">
            <a:alphaModFix amt="14000"/>
            <a:extLst>
              <a:ext uri="{28A0092B-C50C-407E-A947-70E740481C1C}">
                <a14:useLocalDpi xmlns:a14="http://schemas.microsoft.com/office/drawing/2010/main" val="0"/>
              </a:ext>
            </a:extLst>
          </a:blip>
          <a:stretch>
            <a:fillRect/>
          </a:stretch>
        </p:blipFill>
        <p:spPr>
          <a:xfrm>
            <a:off x="0" y="0"/>
            <a:ext cx="12325893" cy="6858000"/>
          </a:xfrm>
          <a:prstGeom prst="rect">
            <a:avLst/>
          </a:prstGeom>
        </p:spPr>
      </p:pic>
      <p:grpSp>
        <p:nvGrpSpPr>
          <p:cNvPr id="7" name="Group 6"/>
          <p:cNvGrpSpPr/>
          <p:nvPr userDrawn="1"/>
        </p:nvGrpSpPr>
        <p:grpSpPr>
          <a:xfrm>
            <a:off x="-43475" y="-16935"/>
            <a:ext cx="12329735" cy="6883401"/>
            <a:chOff x="0" y="-8467"/>
            <a:chExt cx="12329735" cy="6883401"/>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741177" y="0"/>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9017882" y="3024718"/>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5867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2" name="Metin kutusu 11">
            <a:extLst>
              <a:ext uri="{FF2B5EF4-FFF2-40B4-BE49-F238E27FC236}">
                <a16:creationId xmlns:a16="http://schemas.microsoft.com/office/drawing/2014/main" id="{EB1465E5-3D3A-59B6-018D-1B55645A49D7}"/>
              </a:ext>
            </a:extLst>
          </p:cNvPr>
          <p:cNvSpPr txBox="1"/>
          <p:nvPr userDrawn="1"/>
        </p:nvSpPr>
        <p:spPr>
          <a:xfrm>
            <a:off x="741147" y="2028620"/>
            <a:ext cx="10760493" cy="830997"/>
          </a:xfrm>
          <a:prstGeom prst="rect">
            <a:avLst/>
          </a:prstGeom>
          <a:noFill/>
        </p:spPr>
        <p:txBody>
          <a:bodyPr wrap="square" rtlCol="0">
            <a:spAutoFit/>
          </a:bodyPr>
          <a:lstStyle/>
          <a:p>
            <a:pPr algn="ctr"/>
            <a:r>
              <a:rPr lang="tr-TR" sz="1600"/>
              <a:t>TEKNOLOJİ FAKÜLTESİ</a:t>
            </a:r>
          </a:p>
          <a:p>
            <a:pPr algn="ctr"/>
            <a:r>
              <a:rPr lang="tr-TR" sz="1600"/>
              <a:t>BİLGİSAYAR MÜHENDİSLİĞİ BÖLÜMÜ</a:t>
            </a:r>
          </a:p>
          <a:p>
            <a:pPr algn="ctr"/>
            <a:r>
              <a:rPr lang="tr-TR" sz="1400"/>
              <a:t>2025-2026 BİTİRME PROJESİ SUNUMU</a:t>
            </a:r>
          </a:p>
        </p:txBody>
      </p:sp>
      <p:sp>
        <p:nvSpPr>
          <p:cNvPr id="14" name="Metin kutusu 13">
            <a:extLst>
              <a:ext uri="{FF2B5EF4-FFF2-40B4-BE49-F238E27FC236}">
                <a16:creationId xmlns:a16="http://schemas.microsoft.com/office/drawing/2014/main" id="{3B08104C-04A1-C87A-0B93-B0D3618102EA}"/>
              </a:ext>
            </a:extLst>
          </p:cNvPr>
          <p:cNvSpPr txBox="1"/>
          <p:nvPr userDrawn="1"/>
        </p:nvSpPr>
        <p:spPr>
          <a:xfrm>
            <a:off x="879108" y="3424766"/>
            <a:ext cx="10056717" cy="3139321"/>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tr-TR" sz="3600">
                <a:solidFill>
                  <a:schemeClr val="accent2"/>
                </a:solidFill>
              </a:rPr>
              <a:t>[PROJE BAŞLIĞI BURAYA GELECEK]</a:t>
            </a:r>
          </a:p>
          <a:p>
            <a:r>
              <a:rPr lang="tr-TR" sz="1400">
                <a:solidFill>
                  <a:schemeClr val="tx1">
                    <a:lumMod val="65000"/>
                    <a:lumOff val="35000"/>
                  </a:schemeClr>
                </a:solidFill>
              </a:rPr>
              <a:t>   </a:t>
            </a:r>
          </a:p>
          <a:p>
            <a:endParaRPr lang="tr-TR" sz="1400">
              <a:solidFill>
                <a:schemeClr val="tx1">
                  <a:lumMod val="65000"/>
                  <a:lumOff val="35000"/>
                </a:schemeClr>
              </a:solidFill>
            </a:endParaRPr>
          </a:p>
          <a:p>
            <a:endParaRPr lang="tr-TR" sz="1600"/>
          </a:p>
          <a:p>
            <a:r>
              <a:rPr lang="tr-TR" sz="1600">
                <a:solidFill>
                  <a:schemeClr val="tx1">
                    <a:lumMod val="65000"/>
                    <a:lumOff val="35000"/>
                  </a:schemeClr>
                </a:solidFill>
              </a:rPr>
              <a:t>HAZIRLAYAN </a:t>
            </a:r>
            <a:r>
              <a:rPr lang="tr-TR" sz="1600"/>
              <a:t>👤</a:t>
            </a:r>
            <a:r>
              <a:rPr lang="tr-TR" sz="1600">
                <a:solidFill>
                  <a:schemeClr val="tx1">
                    <a:lumMod val="65000"/>
                    <a:lumOff val="35000"/>
                  </a:schemeClr>
                </a:solidFill>
              </a:rPr>
              <a:t>                                                                                           DANIŞMAN </a:t>
            </a:r>
            <a:r>
              <a:rPr lang="tr-TR" sz="1600"/>
              <a:t>👤</a:t>
            </a:r>
            <a:endParaRPr lang="tr-TR" sz="1600">
              <a:solidFill>
                <a:schemeClr val="tx1">
                  <a:lumMod val="65000"/>
                  <a:lumOff val="35000"/>
                </a:schemeClr>
              </a:solidFill>
            </a:endParaRPr>
          </a:p>
          <a:p>
            <a:r>
              <a:rPr lang="tr-TR" sz="1600">
                <a:solidFill>
                  <a:schemeClr val="tx1">
                    <a:lumMod val="65000"/>
                    <a:lumOff val="35000"/>
                  </a:schemeClr>
                </a:solidFill>
              </a:rPr>
              <a:t>																					</a:t>
            </a:r>
            <a:endParaRPr lang="tr-TR" sz="1400">
              <a:solidFill>
                <a:schemeClr val="tx1">
                  <a:lumMod val="65000"/>
                  <a:lumOff val="35000"/>
                </a:schemeClr>
              </a:solidFill>
            </a:endParaRPr>
          </a:p>
          <a:p>
            <a:r>
              <a:rPr lang="tr-TR" sz="1400">
                <a:solidFill>
                  <a:schemeClr val="tx1">
                    <a:lumMod val="65000"/>
                    <a:lumOff val="35000"/>
                  </a:schemeClr>
                </a:solidFill>
              </a:rPr>
              <a:t>Öğrenci Adı Soyadı: 												    Unvanı , Adı Soyadı: </a:t>
            </a:r>
          </a:p>
          <a:p>
            <a:r>
              <a:rPr lang="tr-TR" sz="1400">
                <a:solidFill>
                  <a:schemeClr val="tx1">
                    <a:lumMod val="65000"/>
                    <a:lumOff val="35000"/>
                  </a:schemeClr>
                </a:solidFill>
              </a:rPr>
              <a:t>Öğrenci Numarası:</a:t>
            </a:r>
            <a:r>
              <a:rPr lang="tr-TR" sz="1600">
                <a:solidFill>
                  <a:schemeClr val="tx1">
                    <a:lumMod val="65000"/>
                    <a:lumOff val="35000"/>
                  </a:schemeClr>
                </a:solidFill>
              </a:rPr>
              <a:t> </a:t>
            </a:r>
          </a:p>
          <a:p>
            <a:endParaRPr lang="tr-TR" sz="1400">
              <a:solidFill>
                <a:schemeClr val="tx1">
                  <a:lumMod val="65000"/>
                  <a:lumOff val="35000"/>
                </a:schemeClr>
              </a:solidFill>
            </a:endParaRPr>
          </a:p>
          <a:p>
            <a:endParaRPr lang="tr-TR" sz="1400">
              <a:solidFill>
                <a:schemeClr val="tx1">
                  <a:lumMod val="65000"/>
                  <a:lumOff val="35000"/>
                </a:schemeClr>
              </a:solidFill>
            </a:endParaRPr>
          </a:p>
          <a:p>
            <a:r>
              <a:rPr lang="tr-TR" sz="1400">
                <a:solidFill>
                  <a:schemeClr val="tx1">
                    <a:lumMod val="65000"/>
                    <a:lumOff val="35000"/>
                  </a:schemeClr>
                </a:solidFill>
              </a:rPr>
              <a:t>                                                                                </a:t>
            </a:r>
          </a:p>
          <a:p>
            <a:r>
              <a:rPr lang="tr-TR" sz="1400">
                <a:solidFill>
                  <a:schemeClr val="tx1">
                    <a:lumMod val="65000"/>
                    <a:lumOff val="35000"/>
                  </a:schemeClr>
                </a:solidFill>
              </a:rPr>
              <a:t>                                                                                Tarih </a:t>
            </a:r>
            <a:r>
              <a:rPr lang="tr-TR" sz="1400"/>
              <a:t>📅</a:t>
            </a:r>
            <a:r>
              <a:rPr lang="tr-TR" sz="1400">
                <a:solidFill>
                  <a:schemeClr val="tx1">
                    <a:lumMod val="65000"/>
                    <a:lumOff val="35000"/>
                  </a:schemeClr>
                </a:solidFill>
              </a:rPr>
              <a:t> : </a:t>
            </a:r>
          </a:p>
        </p:txBody>
      </p:sp>
      <p:cxnSp>
        <p:nvCxnSpPr>
          <p:cNvPr id="18" name="Düz Bağlayıcı 17">
            <a:extLst>
              <a:ext uri="{FF2B5EF4-FFF2-40B4-BE49-F238E27FC236}">
                <a16:creationId xmlns:a16="http://schemas.microsoft.com/office/drawing/2014/main" id="{E2EFBC06-D7A2-D941-A35C-654F04F1F71D}"/>
              </a:ext>
            </a:extLst>
          </p:cNvPr>
          <p:cNvCxnSpPr>
            <a:cxnSpLocks/>
          </p:cNvCxnSpPr>
          <p:nvPr userDrawn="1"/>
        </p:nvCxnSpPr>
        <p:spPr>
          <a:xfrm>
            <a:off x="2871776" y="3119566"/>
            <a:ext cx="6499236" cy="0"/>
          </a:xfrm>
          <a:prstGeom prst="line">
            <a:avLst/>
          </a:prstGeom>
          <a:ln>
            <a:solidFill>
              <a:schemeClr val="accent1">
                <a:alpha val="46000"/>
              </a:schemeClr>
            </a:solidFill>
          </a:ln>
        </p:spPr>
        <p:style>
          <a:lnRef idx="1">
            <a:schemeClr val="accent1"/>
          </a:lnRef>
          <a:fillRef idx="0">
            <a:schemeClr val="accent1"/>
          </a:fillRef>
          <a:effectRef idx="0">
            <a:schemeClr val="accent1"/>
          </a:effectRef>
          <a:fontRef idx="minor">
            <a:schemeClr val="tx1"/>
          </a:fontRef>
        </p:style>
      </p:cxnSp>
      <p:cxnSp>
        <p:nvCxnSpPr>
          <p:cNvPr id="33" name="Düz Bağlayıcı 32">
            <a:extLst>
              <a:ext uri="{FF2B5EF4-FFF2-40B4-BE49-F238E27FC236}">
                <a16:creationId xmlns:a16="http://schemas.microsoft.com/office/drawing/2014/main" id="{7E49D9E7-5749-F910-B06A-923D39F31215}"/>
              </a:ext>
            </a:extLst>
          </p:cNvPr>
          <p:cNvCxnSpPr/>
          <p:nvPr userDrawn="1"/>
        </p:nvCxnSpPr>
        <p:spPr>
          <a:xfrm>
            <a:off x="6096000" y="4460240"/>
            <a:ext cx="0" cy="173736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47412661-0A9D-C06C-8E1E-591BA41D3BC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449454" y="269906"/>
            <a:ext cx="1321573" cy="1615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9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şlık ve İçerik">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856" y="2178342"/>
            <a:ext cx="8596668" cy="3880773"/>
          </a:xfrm>
          <a:prstGeom prst="rect">
            <a:avLst/>
          </a:prstGeo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C24930F2-597B-42F3-A810-4D45ACD544C7}"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8" name="Slide Number Placeholder 5">
            <a:extLst>
              <a:ext uri="{FF2B5EF4-FFF2-40B4-BE49-F238E27FC236}">
                <a16:creationId xmlns:a16="http://schemas.microsoft.com/office/drawing/2014/main" id="{FCBB67FD-515B-0C72-9406-705CCCF849D6}"/>
              </a:ext>
            </a:extLst>
          </p:cNvPr>
          <p:cNvSpPr>
            <a:spLocks noGrp="1"/>
          </p:cNvSpPr>
          <p:nvPr>
            <p:ph type="sldNum" sz="quarter" idx="12"/>
          </p:nvPr>
        </p:nvSpPr>
        <p:spPr>
          <a:xfrm>
            <a:off x="11151543" y="6041362"/>
            <a:ext cx="733957" cy="365125"/>
          </a:xfrm>
          <a:prstGeom prst="rect">
            <a:avLst/>
          </a:prstGeom>
        </p:spPr>
        <p:txBody>
          <a:bodyPr/>
          <a:lstStyle>
            <a:lvl1pPr>
              <a:defRPr sz="1400">
                <a:solidFill>
                  <a:schemeClr val="tx1">
                    <a:lumMod val="75000"/>
                    <a:lumOff val="25000"/>
                  </a:schemeClr>
                </a:solidFill>
              </a:defRPr>
            </a:lvl1pPr>
          </a:lstStyle>
          <a:p>
            <a:pPr algn="ctr"/>
            <a:fld id="{761DAA7D-07E7-4CC9-A173-94FF02D0AC1F}" type="slidenum">
              <a:rPr lang="tr-TR" smtClean="0"/>
              <a:pPr algn="ctr"/>
              <a:t>‹#›</a:t>
            </a:fld>
            <a:endParaRPr lang="tr-TR"/>
          </a:p>
        </p:txBody>
      </p:sp>
      <p:sp>
        <p:nvSpPr>
          <p:cNvPr id="2" name="Başlık 1">
            <a:extLst>
              <a:ext uri="{FF2B5EF4-FFF2-40B4-BE49-F238E27FC236}">
                <a16:creationId xmlns:a16="http://schemas.microsoft.com/office/drawing/2014/main" id="{DD37B477-F9B7-FB65-6E14-99D39772F52E}"/>
              </a:ext>
            </a:extLst>
          </p:cNvPr>
          <p:cNvSpPr>
            <a:spLocks noGrp="1"/>
          </p:cNvSpPr>
          <p:nvPr>
            <p:ph type="title"/>
          </p:nvPr>
        </p:nvSpPr>
        <p:spPr>
          <a:xfrm>
            <a:off x="626857" y="1173018"/>
            <a:ext cx="8596668" cy="905164"/>
          </a:xfrm>
        </p:spPr>
        <p:txBody>
          <a:bodyPr/>
          <a:lstStyle/>
          <a:p>
            <a:r>
              <a:rPr lang="tr-TR"/>
              <a:t>Asıl başlık stilini düzenlemek için tıklayın</a:t>
            </a:r>
          </a:p>
        </p:txBody>
      </p:sp>
    </p:spTree>
    <p:extLst>
      <p:ext uri="{BB962C8B-B14F-4D97-AF65-F5344CB8AC3E}">
        <p14:creationId xmlns:p14="http://schemas.microsoft.com/office/powerpoint/2010/main" val="1962077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Özel Düze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11E930-04F3-9DE3-1A7C-475A4C3D1C9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BB486F68-7EFD-E42C-82AA-FB32978AF963}"/>
              </a:ext>
            </a:extLst>
          </p:cNvPr>
          <p:cNvSpPr>
            <a:spLocks noGrp="1"/>
          </p:cNvSpPr>
          <p:nvPr>
            <p:ph type="dt" sz="half" idx="10"/>
          </p:nvPr>
        </p:nvSpPr>
        <p:spPr/>
        <p:txBody>
          <a:bodyPr/>
          <a:lstStyle/>
          <a:p>
            <a:r>
              <a:rPr lang="tr-TR"/>
              <a:t>Tarih: </a:t>
            </a:r>
            <a:fld id="{90A45687-5438-4393-B478-4DFF22740C56}" type="datetime1">
              <a:rPr lang="tr-TR" smtClean="0"/>
              <a:t>2.04.2026</a:t>
            </a:fld>
            <a:endParaRPr lang="tr-TR"/>
          </a:p>
        </p:txBody>
      </p:sp>
      <p:sp>
        <p:nvSpPr>
          <p:cNvPr id="4" name="Alt Bilgi Yer Tutucusu 3">
            <a:extLst>
              <a:ext uri="{FF2B5EF4-FFF2-40B4-BE49-F238E27FC236}">
                <a16:creationId xmlns:a16="http://schemas.microsoft.com/office/drawing/2014/main" id="{EDFE57FD-5FFE-4741-F088-D06A23F87C98}"/>
              </a:ext>
            </a:extLst>
          </p:cNvPr>
          <p:cNvSpPr>
            <a:spLocks noGrp="1"/>
          </p:cNvSpPr>
          <p:nvPr>
            <p:ph type="ftr" sz="quarter" idx="11"/>
          </p:nvPr>
        </p:nvSpPr>
        <p:spPr/>
        <p:txBody>
          <a:bodyPr/>
          <a:lstStyle/>
          <a:p>
            <a:r>
              <a:rPr lang="tr-TR"/>
              <a:t>Öğrenci Adı Soyadı :                                                                                Öğrenci Numarası:</a:t>
            </a:r>
          </a:p>
        </p:txBody>
      </p:sp>
      <p:sp>
        <p:nvSpPr>
          <p:cNvPr id="5" name="Slayt Numarası Yer Tutucusu 4">
            <a:extLst>
              <a:ext uri="{FF2B5EF4-FFF2-40B4-BE49-F238E27FC236}">
                <a16:creationId xmlns:a16="http://schemas.microsoft.com/office/drawing/2014/main" id="{33D47308-C46F-4C6C-8C6B-8300ACBA95C1}"/>
              </a:ext>
            </a:extLst>
          </p:cNvPr>
          <p:cNvSpPr>
            <a:spLocks noGrp="1"/>
          </p:cNvSpPr>
          <p:nvPr>
            <p:ph type="sldNum" sz="quarter" idx="12"/>
          </p:nvPr>
        </p:nvSpPr>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140955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aşlık ve İçerik">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160589"/>
            <a:ext cx="8596668" cy="3880773"/>
          </a:xfrm>
          <a:prstGeom prst="rect">
            <a:avLst/>
          </a:prstGeo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4885EA45-4310-4BBA-A9A4-EA3B5015215D}"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4020206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26856" y="1417261"/>
            <a:ext cx="8596668" cy="860401"/>
          </a:xfrm>
          <a:prstGeom prst="rect">
            <a:avLst/>
          </a:prstGeom>
        </p:spPr>
        <p:txBody>
          <a:bodyPr anchor="b"/>
          <a:lstStyle>
            <a:lvl1pPr algn="l">
              <a:defRPr sz="4000" b="0" cap="none"/>
            </a:lvl1pPr>
          </a:lstStyle>
          <a:p>
            <a:r>
              <a:rPr lang="tr-TR"/>
              <a:t>Asıl başlık stilini düzenlemek için tıklayın</a:t>
            </a:r>
            <a:endParaRPr lang="en-US"/>
          </a:p>
        </p:txBody>
      </p:sp>
      <p:sp>
        <p:nvSpPr>
          <p:cNvPr id="3" name="Text Placeholder 2"/>
          <p:cNvSpPr>
            <a:spLocks noGrp="1"/>
          </p:cNvSpPr>
          <p:nvPr>
            <p:ph type="body" idx="1"/>
          </p:nvPr>
        </p:nvSpPr>
        <p:spPr>
          <a:xfrm>
            <a:off x="626856" y="2586182"/>
            <a:ext cx="8596668" cy="3371273"/>
          </a:xfrm>
          <a:prstGeom prst="rect">
            <a:avLst/>
          </a:prstGeo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5AE23D4-C507-4CB7-8B0E-5914C9E31270}"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4114158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677334" y="1191491"/>
            <a:ext cx="8596668" cy="738908"/>
          </a:xfrm>
          <a:prstGeom prst="rect">
            <a:avLst/>
          </a:prstGeom>
        </p:spPr>
        <p:txBody>
          <a:bodyPr/>
          <a:lstStyle/>
          <a:p>
            <a:r>
              <a:rPr lang="tr-TR"/>
              <a:t>Asıl başlık stilini düzenlemek için tıklayın</a:t>
            </a:r>
            <a:endParaRPr lang="en-US"/>
          </a:p>
        </p:txBody>
      </p:sp>
      <p:sp>
        <p:nvSpPr>
          <p:cNvPr id="3" name="Content Placeholder 2"/>
          <p:cNvSpPr>
            <a:spLocks noGrp="1"/>
          </p:cNvSpPr>
          <p:nvPr>
            <p:ph sz="half" idx="1"/>
          </p:nvPr>
        </p:nvSpPr>
        <p:spPr>
          <a:xfrm>
            <a:off x="677334" y="2160589"/>
            <a:ext cx="4184035" cy="3880772"/>
          </a:xfrm>
          <a:prstGeom prst="rect">
            <a:avLst/>
          </a:prstGeo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Content Placeholder 3"/>
          <p:cNvSpPr>
            <a:spLocks noGrp="1"/>
          </p:cNvSpPr>
          <p:nvPr>
            <p:ph sz="half" idx="2"/>
          </p:nvPr>
        </p:nvSpPr>
        <p:spPr>
          <a:xfrm>
            <a:off x="5089970" y="2160589"/>
            <a:ext cx="4184034" cy="3880773"/>
          </a:xfrm>
          <a:prstGeom prst="rect">
            <a:avLst/>
          </a:prstGeo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Date Placeholder 4"/>
          <p:cNvSpPr>
            <a:spLocks noGrp="1"/>
          </p:cNvSpPr>
          <p:nvPr>
            <p:ph type="dt" sz="half" idx="10"/>
          </p:nvPr>
        </p:nvSpPr>
        <p:spPr/>
        <p:txBody>
          <a:bodyPr/>
          <a:lstStyle/>
          <a:p>
            <a:fld id="{E2FFE470-4B13-4F4C-A65E-C029AC9F7799}" type="datetime1">
              <a:rPr lang="tr-TR" smtClean="0"/>
              <a:t>2.04.2026</a:t>
            </a:fld>
            <a:endParaRPr lang="tr-TR"/>
          </a:p>
        </p:txBody>
      </p:sp>
      <p:sp>
        <p:nvSpPr>
          <p:cNvPr id="6" name="Footer Placeholder 5"/>
          <p:cNvSpPr>
            <a:spLocks noGrp="1"/>
          </p:cNvSpPr>
          <p:nvPr>
            <p:ph type="ftr" sz="quarter" idx="11"/>
          </p:nvPr>
        </p:nvSpPr>
        <p:spPr/>
        <p:txBody>
          <a:bodyPr/>
          <a:lstStyle/>
          <a:p>
            <a:r>
              <a:rPr lang="tr-TR"/>
              <a:t>Öğrenci Adı Soyadı :                                                                                Öğrenci Numarası:</a:t>
            </a:r>
          </a:p>
        </p:txBody>
      </p:sp>
      <p:sp>
        <p:nvSpPr>
          <p:cNvPr id="7" name="Slide Number Placeholder 6"/>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4266765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77334" y="1043708"/>
            <a:ext cx="8596668" cy="886691"/>
          </a:xfrm>
          <a:prstGeom prst="rect">
            <a:avLst/>
          </a:prstGeom>
        </p:spPr>
        <p:txBody>
          <a:bodyPr/>
          <a:lstStyle>
            <a:lvl1pPr>
              <a:defRPr/>
            </a:lvl1pPr>
          </a:lstStyle>
          <a:p>
            <a:r>
              <a:rPr lang="tr-TR"/>
              <a:t>Asıl başlık stilini düzenlemek için tıklayın</a:t>
            </a:r>
            <a:endParaRPr lang="en-US"/>
          </a:p>
        </p:txBody>
      </p:sp>
      <p:sp>
        <p:nvSpPr>
          <p:cNvPr id="3" name="Text Placeholder 2"/>
          <p:cNvSpPr>
            <a:spLocks noGrp="1"/>
          </p:cNvSpPr>
          <p:nvPr>
            <p:ph type="body" idx="1"/>
          </p:nvPr>
        </p:nvSpPr>
        <p:spPr>
          <a:xfrm>
            <a:off x="675745" y="2160983"/>
            <a:ext cx="4185623" cy="576262"/>
          </a:xfrm>
          <a:prstGeom prst="rect">
            <a:avLst/>
          </a:prstGeo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75745" y="2737245"/>
            <a:ext cx="4185623" cy="3304117"/>
          </a:xfrm>
          <a:prstGeom prst="rect">
            <a:avLst/>
          </a:prstGeo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5" name="Text Placeholder 4"/>
          <p:cNvSpPr>
            <a:spLocks noGrp="1"/>
          </p:cNvSpPr>
          <p:nvPr>
            <p:ph type="body" sz="quarter" idx="3"/>
          </p:nvPr>
        </p:nvSpPr>
        <p:spPr>
          <a:xfrm>
            <a:off x="5088383" y="2160983"/>
            <a:ext cx="4185618" cy="576262"/>
          </a:xfrm>
          <a:prstGeom prst="rect">
            <a:avLst/>
          </a:prstGeo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088384" y="2737245"/>
            <a:ext cx="4185617" cy="3304117"/>
          </a:xfrm>
          <a:prstGeom prst="rect">
            <a:avLst/>
          </a:prstGeo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Date Placeholder 6"/>
          <p:cNvSpPr>
            <a:spLocks noGrp="1"/>
          </p:cNvSpPr>
          <p:nvPr>
            <p:ph type="dt" sz="half" idx="10"/>
          </p:nvPr>
        </p:nvSpPr>
        <p:spPr/>
        <p:txBody>
          <a:bodyPr/>
          <a:lstStyle/>
          <a:p>
            <a:fld id="{B2021AF3-DAD2-499B-B95B-6BAAD1912905}" type="datetime1">
              <a:rPr lang="tr-TR" smtClean="0"/>
              <a:t>2.04.2026</a:t>
            </a:fld>
            <a:endParaRPr lang="tr-TR"/>
          </a:p>
        </p:txBody>
      </p:sp>
      <p:sp>
        <p:nvSpPr>
          <p:cNvPr id="8" name="Footer Placeholder 7"/>
          <p:cNvSpPr>
            <a:spLocks noGrp="1"/>
          </p:cNvSpPr>
          <p:nvPr>
            <p:ph type="ftr" sz="quarter" idx="11"/>
          </p:nvPr>
        </p:nvSpPr>
        <p:spPr/>
        <p:txBody>
          <a:bodyPr/>
          <a:lstStyle/>
          <a:p>
            <a:r>
              <a:rPr lang="tr-TR"/>
              <a:t>Öğrenci Adı Soyadı :                                                                                Öğrenci Numarası:</a:t>
            </a:r>
          </a:p>
        </p:txBody>
      </p:sp>
      <p:sp>
        <p:nvSpPr>
          <p:cNvPr id="9" name="Slide Number Placeholder 8"/>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1054303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760461" y="1145309"/>
            <a:ext cx="8596668" cy="997527"/>
          </a:xfrm>
          <a:prstGeom prst="rect">
            <a:avLst/>
          </a:prstGeom>
        </p:spPr>
        <p:txBody>
          <a:bodyPr/>
          <a:lstStyle/>
          <a:p>
            <a:r>
              <a:rPr lang="tr-TR"/>
              <a:t>Asıl başlık stilini düzenlemek için tıklayın</a:t>
            </a:r>
            <a:endParaRPr lang="en-US"/>
          </a:p>
        </p:txBody>
      </p:sp>
      <p:sp>
        <p:nvSpPr>
          <p:cNvPr id="3" name="Date Placeholder 2"/>
          <p:cNvSpPr>
            <a:spLocks noGrp="1"/>
          </p:cNvSpPr>
          <p:nvPr>
            <p:ph type="dt" sz="half" idx="10"/>
          </p:nvPr>
        </p:nvSpPr>
        <p:spPr/>
        <p:txBody>
          <a:bodyPr/>
          <a:lstStyle/>
          <a:p>
            <a:fld id="{A7030C0B-D6ED-413B-A4C6-910725083451}" type="datetime1">
              <a:rPr lang="tr-TR" smtClean="0"/>
              <a:t>2.04.2026</a:t>
            </a:fld>
            <a:endParaRPr lang="tr-TR"/>
          </a:p>
        </p:txBody>
      </p:sp>
      <p:sp>
        <p:nvSpPr>
          <p:cNvPr id="4" name="Footer Placeholder 3"/>
          <p:cNvSpPr>
            <a:spLocks noGrp="1"/>
          </p:cNvSpPr>
          <p:nvPr>
            <p:ph type="ftr" sz="quarter" idx="11"/>
          </p:nvPr>
        </p:nvSpPr>
        <p:spPr/>
        <p:txBody>
          <a:bodyPr/>
          <a:lstStyle/>
          <a:p>
            <a:r>
              <a:rPr lang="tr-TR"/>
              <a:t>Öğrenci Adı Soyadı :                                                                                Öğrenci Numarası:</a:t>
            </a:r>
          </a:p>
        </p:txBody>
      </p:sp>
      <p:sp>
        <p:nvSpPr>
          <p:cNvPr id="5" name="Slide Number Placeholder 4"/>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3349210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20EF13-7244-4C67-855F-5CB44FBBC5F8}" type="datetime1">
              <a:rPr lang="tr-TR" smtClean="0"/>
              <a:t>2.04.2026</a:t>
            </a:fld>
            <a:endParaRPr lang="tr-TR"/>
          </a:p>
        </p:txBody>
      </p:sp>
      <p:sp>
        <p:nvSpPr>
          <p:cNvPr id="3" name="Footer Placeholder 2"/>
          <p:cNvSpPr>
            <a:spLocks noGrp="1"/>
          </p:cNvSpPr>
          <p:nvPr>
            <p:ph type="ftr" sz="quarter" idx="11"/>
          </p:nvPr>
        </p:nvSpPr>
        <p:spPr/>
        <p:txBody>
          <a:bodyPr/>
          <a:lstStyle/>
          <a:p>
            <a:r>
              <a:rPr lang="tr-TR"/>
              <a:t>Öğrenci Adı Soyadı :                                                                                Öğrenci Numarası:</a:t>
            </a:r>
          </a:p>
        </p:txBody>
      </p:sp>
      <p:sp>
        <p:nvSpPr>
          <p:cNvPr id="4" name="Slide Number Placeholder 3"/>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1929696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a:prstGeom prst="rect">
            <a:avLst/>
          </a:prstGeom>
        </p:spPr>
        <p:txBody>
          <a:bodyPr anchor="b">
            <a:normAutofit/>
          </a:bodyPr>
          <a:lstStyle>
            <a:lvl1pPr>
              <a:defRPr sz="2000"/>
            </a:lvl1pPr>
          </a:lstStyle>
          <a:p>
            <a:r>
              <a:rPr lang="tr-TR"/>
              <a:t>Asıl başlık stilini düzenlemek için tıklayın</a:t>
            </a:r>
            <a:endParaRPr lang="en-US"/>
          </a:p>
        </p:txBody>
      </p:sp>
      <p:sp>
        <p:nvSpPr>
          <p:cNvPr id="3" name="Content Placeholder 2"/>
          <p:cNvSpPr>
            <a:spLocks noGrp="1"/>
          </p:cNvSpPr>
          <p:nvPr>
            <p:ph idx="1"/>
          </p:nvPr>
        </p:nvSpPr>
        <p:spPr>
          <a:xfrm>
            <a:off x="4760461" y="1182255"/>
            <a:ext cx="4513541" cy="4859106"/>
          </a:xfrm>
          <a:prstGeom prst="rect">
            <a:avLst/>
          </a:prstGeo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Text Placeholder 3"/>
          <p:cNvSpPr>
            <a:spLocks noGrp="1"/>
          </p:cNvSpPr>
          <p:nvPr>
            <p:ph type="body" sz="half" idx="2"/>
          </p:nvPr>
        </p:nvSpPr>
        <p:spPr>
          <a:xfrm>
            <a:off x="677334" y="2777069"/>
            <a:ext cx="3854528" cy="2584449"/>
          </a:xfrm>
          <a:prstGeom prst="rect">
            <a:avLst/>
          </a:prstGeo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4EB4A15-E5E0-4DAF-B8EB-7048892C6FDA}" type="datetime1">
              <a:rPr lang="tr-TR" smtClean="0"/>
              <a:t>2.04.2026</a:t>
            </a:fld>
            <a:endParaRPr lang="tr-TR"/>
          </a:p>
        </p:txBody>
      </p:sp>
      <p:sp>
        <p:nvSpPr>
          <p:cNvPr id="6" name="Footer Placeholder 5"/>
          <p:cNvSpPr>
            <a:spLocks noGrp="1"/>
          </p:cNvSpPr>
          <p:nvPr>
            <p:ph type="ftr" sz="quarter" idx="11"/>
          </p:nvPr>
        </p:nvSpPr>
        <p:spPr/>
        <p:txBody>
          <a:bodyPr/>
          <a:lstStyle/>
          <a:p>
            <a:r>
              <a:rPr lang="tr-TR"/>
              <a:t>Öğrenci Adı Soyadı :                                                                                Öğrenci Numarası:</a:t>
            </a:r>
          </a:p>
        </p:txBody>
      </p:sp>
      <p:sp>
        <p:nvSpPr>
          <p:cNvPr id="7" name="Slide Number Placeholder 6"/>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768628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a:prstGeom prst="rect">
            <a:avLst/>
          </a:prstGeom>
        </p:spPr>
        <p:txBody>
          <a:bodyPr anchor="b">
            <a:normAutofit/>
          </a:bodyPr>
          <a:lstStyle>
            <a:lvl1pPr algn="l">
              <a:defRPr sz="2400" b="0"/>
            </a:lvl1pPr>
          </a:lstStyle>
          <a:p>
            <a:r>
              <a:rPr lang="tr-TR"/>
              <a:t>Asıl başlık stilini düzenlemek için tıklayın</a:t>
            </a:r>
            <a:endParaRPr lang="en-US"/>
          </a:p>
        </p:txBody>
      </p:sp>
      <p:sp>
        <p:nvSpPr>
          <p:cNvPr id="3" name="Picture Placeholder 2"/>
          <p:cNvSpPr>
            <a:spLocks noGrp="1" noChangeAspect="1"/>
          </p:cNvSpPr>
          <p:nvPr>
            <p:ph type="pic" idx="1"/>
          </p:nvPr>
        </p:nvSpPr>
        <p:spPr>
          <a:xfrm>
            <a:off x="677334" y="609600"/>
            <a:ext cx="8596668" cy="3845718"/>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a:p>
        </p:txBody>
      </p:sp>
      <p:sp>
        <p:nvSpPr>
          <p:cNvPr id="4" name="Text Placeholder 3"/>
          <p:cNvSpPr>
            <a:spLocks noGrp="1"/>
          </p:cNvSpPr>
          <p:nvPr>
            <p:ph type="body" sz="half" idx="2"/>
          </p:nvPr>
        </p:nvSpPr>
        <p:spPr>
          <a:xfrm>
            <a:off x="677334" y="5367338"/>
            <a:ext cx="8596667" cy="674024"/>
          </a:xfrm>
          <a:prstGeom prst="rect">
            <a:avLst/>
          </a:prstGeo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58349D7F-29E7-4571-AD81-036F6ADD223D}" type="datetime1">
              <a:rPr lang="tr-TR" smtClean="0"/>
              <a:t>2.04.2026</a:t>
            </a:fld>
            <a:endParaRPr lang="tr-TR"/>
          </a:p>
        </p:txBody>
      </p:sp>
      <p:sp>
        <p:nvSpPr>
          <p:cNvPr id="6" name="Footer Placeholder 5"/>
          <p:cNvSpPr>
            <a:spLocks noGrp="1"/>
          </p:cNvSpPr>
          <p:nvPr>
            <p:ph type="ftr" sz="quarter" idx="11"/>
          </p:nvPr>
        </p:nvSpPr>
        <p:spPr/>
        <p:txBody>
          <a:bodyPr/>
          <a:lstStyle/>
          <a:p>
            <a:r>
              <a:rPr lang="tr-TR"/>
              <a:t>Öğrenci Adı Soyadı :                                                                                Öğrenci Numarası:</a:t>
            </a:r>
          </a:p>
        </p:txBody>
      </p:sp>
      <p:sp>
        <p:nvSpPr>
          <p:cNvPr id="7" name="Slide Number Placeholder 6"/>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527721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77335" y="1265382"/>
            <a:ext cx="8596668" cy="1122218"/>
          </a:xfrm>
          <a:prstGeom prst="rect">
            <a:avLst/>
          </a:prstGeom>
        </p:spPr>
        <p:txBody>
          <a:bodyPr anchor="ctr">
            <a:normAutofit/>
          </a:bodyPr>
          <a:lstStyle>
            <a:lvl1pPr algn="l">
              <a:defRPr sz="3200" b="0" cap="none"/>
            </a:lvl1pPr>
          </a:lstStyle>
          <a:p>
            <a:r>
              <a:rPr lang="tr-TR"/>
              <a:t>Asıl başlık stilini düzenlemek için tıklayın</a:t>
            </a:r>
            <a:endParaRPr lang="en-US"/>
          </a:p>
        </p:txBody>
      </p:sp>
      <p:sp>
        <p:nvSpPr>
          <p:cNvPr id="3" name="Text Placeholder 2"/>
          <p:cNvSpPr>
            <a:spLocks noGrp="1"/>
          </p:cNvSpPr>
          <p:nvPr>
            <p:ph type="body" idx="1"/>
          </p:nvPr>
        </p:nvSpPr>
        <p:spPr>
          <a:xfrm>
            <a:off x="677335" y="2632364"/>
            <a:ext cx="8596668" cy="3408998"/>
          </a:xfrm>
          <a:prstGeom prst="rect">
            <a:avLst/>
          </a:prstGeo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5F78042A-037E-47AC-BCD3-F1A74A26AEDF}"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131669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a:prstGeom prst="rect">
            <a:avLst/>
          </a:prstGeom>
        </p:spPr>
        <p:txBody>
          <a:bodyPr anchor="ctr">
            <a:normAutofit/>
          </a:bodyPr>
          <a:lstStyle>
            <a:lvl1pPr algn="l">
              <a:defRPr sz="4400" b="0" cap="none"/>
            </a:lvl1pPr>
          </a:lstStyle>
          <a:p>
            <a:r>
              <a:rPr lang="tr-TR"/>
              <a:t>Asıl başlık stilini düzenlemek için tıklayın</a:t>
            </a:r>
            <a:endParaRPr lang="en-US"/>
          </a:p>
        </p:txBody>
      </p:sp>
      <p:sp>
        <p:nvSpPr>
          <p:cNvPr id="23" name="Text Placeholder 9"/>
          <p:cNvSpPr>
            <a:spLocks noGrp="1"/>
          </p:cNvSpPr>
          <p:nvPr>
            <p:ph type="body" sz="quarter" idx="13"/>
          </p:nvPr>
        </p:nvSpPr>
        <p:spPr>
          <a:xfrm>
            <a:off x="1366139" y="3632200"/>
            <a:ext cx="7224524" cy="381000"/>
          </a:xfrm>
          <a:prstGeom prst="rect">
            <a:avLst/>
          </a:prstGeo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470400"/>
            <a:ext cx="8596668" cy="1570962"/>
          </a:xfrm>
          <a:prstGeom prst="rect">
            <a:avLst/>
          </a:prstGeo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3633AB2F-A0E1-488A-86E3-1EEAD4CFDF9A}"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315439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a:prstGeom prst="rect">
            <a:avLst/>
          </a:prstGeom>
        </p:spPr>
        <p:txBody>
          <a:bodyPr anchor="b">
            <a:normAutofit/>
          </a:bodyPr>
          <a:lstStyle>
            <a:lvl1pPr algn="l">
              <a:defRPr sz="4400" b="0" cap="none"/>
            </a:lvl1pPr>
          </a:lstStyle>
          <a:p>
            <a:r>
              <a:rPr lang="tr-TR"/>
              <a:t>Asıl başlık stilini düzenlemek için tıklayın</a:t>
            </a:r>
            <a:endParaRPr lang="en-US"/>
          </a:p>
        </p:txBody>
      </p:sp>
      <p:sp>
        <p:nvSpPr>
          <p:cNvPr id="3" name="Text Placeholder 2"/>
          <p:cNvSpPr>
            <a:spLocks noGrp="1"/>
          </p:cNvSpPr>
          <p:nvPr>
            <p:ph type="body" idx="1"/>
          </p:nvPr>
        </p:nvSpPr>
        <p:spPr>
          <a:xfrm>
            <a:off x="677335" y="4527448"/>
            <a:ext cx="8596668" cy="1513914"/>
          </a:xfrm>
          <a:prstGeom prst="rect">
            <a:avLst/>
          </a:prstGeo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E7EC4CF-E620-4285-912D-C65AFDD369DE}"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3164614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a:prstGeom prst="rect">
            <a:avLst/>
          </a:prstGeom>
        </p:spPr>
        <p:txBody>
          <a:bodyPr anchor="ctr">
            <a:normAutofit/>
          </a:bodyPr>
          <a:lstStyle>
            <a:lvl1pPr algn="l">
              <a:defRPr sz="4400" b="0" cap="none"/>
            </a:lvl1pPr>
          </a:lstStyle>
          <a:p>
            <a:r>
              <a:rPr lang="tr-TR"/>
              <a:t>Asıl başlık stilini düzenlemek için tıklayın</a:t>
            </a:r>
            <a:endParaRPr lang="en-US"/>
          </a:p>
        </p:txBody>
      </p:sp>
      <p:sp>
        <p:nvSpPr>
          <p:cNvPr id="23" name="Text Placeholder 9"/>
          <p:cNvSpPr>
            <a:spLocks noGrp="1"/>
          </p:cNvSpPr>
          <p:nvPr>
            <p:ph type="body" sz="quarter" idx="13"/>
          </p:nvPr>
        </p:nvSpPr>
        <p:spPr>
          <a:xfrm>
            <a:off x="677332" y="4013200"/>
            <a:ext cx="8596669" cy="514248"/>
          </a:xfrm>
          <a:prstGeom prst="rect">
            <a:avLst/>
          </a:prstGeo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527448"/>
            <a:ext cx="8596668" cy="1513914"/>
          </a:xfrm>
          <a:prstGeom prst="rect">
            <a:avLst/>
          </a:prstGeo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0B02877C-D981-41C2-8B79-0ADD531832BF}"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52691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a:prstGeom prst="rect">
            <a:avLst/>
          </a:prstGeom>
        </p:spPr>
        <p:txBody>
          <a:bodyPr anchor="ctr">
            <a:normAutofit/>
          </a:bodyPr>
          <a:lstStyle>
            <a:lvl1pPr algn="l">
              <a:defRPr sz="4400" b="0" cap="none"/>
            </a:lvl1pPr>
          </a:lstStyle>
          <a:p>
            <a:r>
              <a:rPr lang="tr-TR"/>
              <a:t>Asıl başlık stilini düzenlemek için tıklayın</a:t>
            </a:r>
            <a:endParaRPr lang="en-US"/>
          </a:p>
        </p:txBody>
      </p:sp>
      <p:sp>
        <p:nvSpPr>
          <p:cNvPr id="23" name="Text Placeholder 9"/>
          <p:cNvSpPr>
            <a:spLocks noGrp="1"/>
          </p:cNvSpPr>
          <p:nvPr>
            <p:ph type="body" sz="quarter" idx="13"/>
          </p:nvPr>
        </p:nvSpPr>
        <p:spPr>
          <a:xfrm>
            <a:off x="677332" y="4013200"/>
            <a:ext cx="8596669" cy="514248"/>
          </a:xfrm>
          <a:prstGeom prst="rect">
            <a:avLst/>
          </a:prstGeo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527448"/>
            <a:ext cx="8596668" cy="1513914"/>
          </a:xfrm>
          <a:prstGeom prst="rect">
            <a:avLst/>
          </a:prstGeo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B6587D6-CED0-44B2-B799-BFACE22AB782}"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2169840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a:prstGeom prst="rect">
            <a:avLst/>
          </a:prstGeom>
        </p:spPr>
        <p:txBody>
          <a:bodyPr/>
          <a:lstStyle/>
          <a:p>
            <a:r>
              <a:rPr lang="tr-TR"/>
              <a:t>Asıl başlık stilini düzenlemek için tıklayın</a:t>
            </a:r>
            <a:endParaRPr lang="en-US"/>
          </a:p>
        </p:txBody>
      </p:sp>
      <p:sp>
        <p:nvSpPr>
          <p:cNvPr id="3" name="Vertical Text Placeholder 2"/>
          <p:cNvSpPr>
            <a:spLocks noGrp="1"/>
          </p:cNvSpPr>
          <p:nvPr>
            <p:ph type="body" orient="vert" idx="1"/>
          </p:nvPr>
        </p:nvSpPr>
        <p:spPr>
          <a:xfrm>
            <a:off x="677334" y="2160589"/>
            <a:ext cx="8596668" cy="3880773"/>
          </a:xfrm>
          <a:prstGeom prst="rect">
            <a:avLst/>
          </a:prstGeo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A48070F0-CB7E-4729-9BEF-4D9518A140AD}"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3522527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a:prstGeom prst="rect">
            <a:avLst/>
          </a:prstGeom>
        </p:spPr>
        <p:txBody>
          <a:bodyPr vert="eaVert" anchor="ctr"/>
          <a:lstStyle/>
          <a:p>
            <a:r>
              <a:rPr lang="tr-TR"/>
              <a:t>Asıl başlık stilini düzenlemek için tıklayın</a:t>
            </a:r>
            <a:endParaRPr lang="en-US"/>
          </a:p>
        </p:txBody>
      </p:sp>
      <p:sp>
        <p:nvSpPr>
          <p:cNvPr id="3" name="Vertical Text Placeholder 2"/>
          <p:cNvSpPr>
            <a:spLocks noGrp="1"/>
          </p:cNvSpPr>
          <p:nvPr>
            <p:ph type="body" orient="vert" idx="1"/>
          </p:nvPr>
        </p:nvSpPr>
        <p:spPr>
          <a:xfrm>
            <a:off x="677335" y="609600"/>
            <a:ext cx="7060150" cy="5251450"/>
          </a:xfrm>
          <a:prstGeom prst="rect">
            <a:avLst/>
          </a:prstGeo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fld id="{4F7DAF61-9092-4A43-8429-DC0C08D93A0F}" type="datetime1">
              <a:rPr lang="tr-TR" smtClean="0"/>
              <a:t>2.04.2026</a:t>
            </a:fld>
            <a:endParaRPr lang="tr-TR"/>
          </a:p>
        </p:txBody>
      </p:sp>
      <p:sp>
        <p:nvSpPr>
          <p:cNvPr id="5" name="Footer Placeholder 4"/>
          <p:cNvSpPr>
            <a:spLocks noGrp="1"/>
          </p:cNvSpPr>
          <p:nvPr>
            <p:ph type="ftr" sz="quarter" idx="11"/>
          </p:nvPr>
        </p:nvSpPr>
        <p:spPr/>
        <p:txBody>
          <a:bodyPr/>
          <a:lstStyle/>
          <a:p>
            <a:r>
              <a:rPr lang="tr-TR"/>
              <a:t>Öğrenci Adı Soyadı :                                                                                Öğrenci Numarası:</a:t>
            </a:r>
          </a:p>
        </p:txBody>
      </p:sp>
      <p:sp>
        <p:nvSpPr>
          <p:cNvPr id="6" name="Slide Number Placeholder 5"/>
          <p:cNvSpPr>
            <a:spLocks noGrp="1"/>
          </p:cNvSpPr>
          <p:nvPr>
            <p:ph type="sldNum" sz="quarter" idx="12"/>
          </p:nvPr>
        </p:nvSpPr>
        <p:spPr>
          <a:xfrm>
            <a:off x="11151543" y="6041362"/>
            <a:ext cx="733957" cy="365125"/>
          </a:xfrm>
          <a:prstGeom prst="rect">
            <a:avLst/>
          </a:prstGeom>
        </p:spPr>
        <p:txBody>
          <a:bodyPr/>
          <a:lstStyle/>
          <a:p>
            <a:fld id="{761DAA7D-07E7-4CC9-A173-94FF02D0AC1F}" type="slidenum">
              <a:rPr lang="tr-TR" smtClean="0"/>
              <a:t>‹#›</a:t>
            </a:fld>
            <a:endParaRPr lang="tr-TR"/>
          </a:p>
        </p:txBody>
      </p:sp>
    </p:spTree>
    <p:extLst>
      <p:ext uri="{BB962C8B-B14F-4D97-AF65-F5344CB8AC3E}">
        <p14:creationId xmlns:p14="http://schemas.microsoft.com/office/powerpoint/2010/main" val="4038136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4624493"/>
              <a:ext cx="1817159" cy="2233507"/>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4" name="Date Placeholder 3"/>
          <p:cNvSpPr>
            <a:spLocks noGrp="1"/>
          </p:cNvSpPr>
          <p:nvPr>
            <p:ph type="dt" sz="half" idx="2"/>
          </p:nvPr>
        </p:nvSpPr>
        <p:spPr>
          <a:xfrm>
            <a:off x="7537863" y="6264681"/>
            <a:ext cx="116586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tr-TR"/>
              <a:t>Tarih: </a:t>
            </a:r>
            <a:fld id="{90A45687-5438-4393-B478-4DFF22740C56}" type="datetime1">
              <a:rPr lang="tr-TR" smtClean="0"/>
              <a:t>2.04.2026</a:t>
            </a:fld>
            <a:endParaRPr lang="tr-TR"/>
          </a:p>
        </p:txBody>
      </p:sp>
      <p:sp>
        <p:nvSpPr>
          <p:cNvPr id="5" name="Footer Placeholder 4"/>
          <p:cNvSpPr>
            <a:spLocks noGrp="1"/>
          </p:cNvSpPr>
          <p:nvPr>
            <p:ph type="ftr" sz="quarter" idx="3"/>
          </p:nvPr>
        </p:nvSpPr>
        <p:spPr>
          <a:xfrm>
            <a:off x="626856" y="6264681"/>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tr-TR"/>
              <a:t>Öğrenci Adı Soyadı :                                                                                Öğrenci Numarası:</a:t>
            </a:r>
          </a:p>
        </p:txBody>
      </p:sp>
      <p:sp>
        <p:nvSpPr>
          <p:cNvPr id="13" name="Metin Yer Tutucusu 12">
            <a:extLst>
              <a:ext uri="{FF2B5EF4-FFF2-40B4-BE49-F238E27FC236}">
                <a16:creationId xmlns:a16="http://schemas.microsoft.com/office/drawing/2014/main" id="{1DC6450A-FB1B-3207-AE47-D8329A1F5C3E}"/>
              </a:ext>
            </a:extLst>
          </p:cNvPr>
          <p:cNvSpPr>
            <a:spLocks noGrp="1"/>
          </p:cNvSpPr>
          <p:nvPr>
            <p:ph type="body" idx="1"/>
          </p:nvPr>
        </p:nvSpPr>
        <p:spPr>
          <a:xfrm>
            <a:off x="677334" y="2225964"/>
            <a:ext cx="10258491" cy="349869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graphicFrame>
        <p:nvGraphicFramePr>
          <p:cNvPr id="34" name="Tablo 33">
            <a:extLst>
              <a:ext uri="{FF2B5EF4-FFF2-40B4-BE49-F238E27FC236}">
                <a16:creationId xmlns:a16="http://schemas.microsoft.com/office/drawing/2014/main" id="{09FEA257-E364-7B41-2B6A-B13A6B928DBF}"/>
              </a:ext>
            </a:extLst>
          </p:cNvPr>
          <p:cNvGraphicFramePr>
            <a:graphicFrameLocks noGrp="1"/>
          </p:cNvGraphicFramePr>
          <p:nvPr userDrawn="1">
            <p:extLst>
              <p:ext uri="{D42A27DB-BD31-4B8C-83A1-F6EECF244321}">
                <p14:modId xmlns:p14="http://schemas.microsoft.com/office/powerpoint/2010/main" val="368032999"/>
              </p:ext>
            </p:extLst>
          </p:nvPr>
        </p:nvGraphicFramePr>
        <p:xfrm>
          <a:off x="955022" y="162279"/>
          <a:ext cx="10281955" cy="822960"/>
        </p:xfrm>
        <a:graphic>
          <a:graphicData uri="http://schemas.openxmlformats.org/drawingml/2006/table">
            <a:tbl>
              <a:tblPr firstRow="1" bandRow="1">
                <a:tableStyleId>{5C22544A-7EE6-4342-B048-85BDC9FD1C3A}</a:tableStyleId>
              </a:tblPr>
              <a:tblGrid>
                <a:gridCol w="866521">
                  <a:extLst>
                    <a:ext uri="{9D8B030D-6E8A-4147-A177-3AD203B41FA5}">
                      <a16:colId xmlns:a16="http://schemas.microsoft.com/office/drawing/2014/main" val="26181871"/>
                    </a:ext>
                  </a:extLst>
                </a:gridCol>
                <a:gridCol w="8560503">
                  <a:extLst>
                    <a:ext uri="{9D8B030D-6E8A-4147-A177-3AD203B41FA5}">
                      <a16:colId xmlns:a16="http://schemas.microsoft.com/office/drawing/2014/main" val="911425140"/>
                    </a:ext>
                  </a:extLst>
                </a:gridCol>
                <a:gridCol w="854931">
                  <a:extLst>
                    <a:ext uri="{9D8B030D-6E8A-4147-A177-3AD203B41FA5}">
                      <a16:colId xmlns:a16="http://schemas.microsoft.com/office/drawing/2014/main" val="3060789160"/>
                    </a:ext>
                  </a:extLst>
                </a:gridCol>
              </a:tblGrid>
              <a:tr h="739524">
                <a:tc>
                  <a:txBody>
                    <a:bodyPr/>
                    <a:lstStyle/>
                    <a:p>
                      <a:endParaRPr lang="tr-T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tr-TR" sz="1600">
                          <a:solidFill>
                            <a:schemeClr val="tx1">
                              <a:lumMod val="95000"/>
                              <a:lumOff val="5000"/>
                            </a:schemeClr>
                          </a:solidFill>
                        </a:rPr>
                        <a:t>ISPARTA UYGULAMALI BİLİMLER ÜNİVERSİTESİ</a:t>
                      </a:r>
                    </a:p>
                    <a:p>
                      <a:pPr algn="ctr"/>
                      <a:r>
                        <a:rPr lang="tr-TR" sz="1600">
                          <a:solidFill>
                            <a:schemeClr val="tx1">
                              <a:lumMod val="95000"/>
                              <a:lumOff val="5000"/>
                            </a:schemeClr>
                          </a:solidFill>
                        </a:rPr>
                        <a:t>BİLGİSAYAR MÜHENDİSLİĞİ BÖLÜMÜ</a:t>
                      </a:r>
                    </a:p>
                    <a:p>
                      <a:pPr algn="ctr"/>
                      <a:r>
                        <a:rPr lang="tr-TR" sz="1600">
                          <a:solidFill>
                            <a:schemeClr val="tx1">
                              <a:lumMod val="95000"/>
                              <a:lumOff val="5000"/>
                            </a:schemeClr>
                          </a:solidFill>
                        </a:rPr>
                        <a:t>2025-2026 BİTİRME PROJESİ SUNUSU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tr-TR" sz="160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0458832"/>
                  </a:ext>
                </a:extLst>
              </a:tr>
            </a:tbl>
          </a:graphicData>
        </a:graphic>
      </p:graphicFrame>
      <p:pic>
        <p:nvPicPr>
          <p:cNvPr id="35" name="Resim 34">
            <a:extLst>
              <a:ext uri="{FF2B5EF4-FFF2-40B4-BE49-F238E27FC236}">
                <a16:creationId xmlns:a16="http://schemas.microsoft.com/office/drawing/2014/main" id="{19ABD7D9-BB4A-3097-00F0-14922EC5E4C3}"/>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046009" y="206601"/>
            <a:ext cx="700266" cy="692100"/>
          </a:xfrm>
          <a:prstGeom prst="rect">
            <a:avLst/>
          </a:prstGeom>
        </p:spPr>
      </p:pic>
      <p:sp>
        <p:nvSpPr>
          <p:cNvPr id="37" name="Slide Number Placeholder 5">
            <a:extLst>
              <a:ext uri="{FF2B5EF4-FFF2-40B4-BE49-F238E27FC236}">
                <a16:creationId xmlns:a16="http://schemas.microsoft.com/office/drawing/2014/main" id="{A6BC4DE5-A03C-3D17-BDE8-B84F88687501}"/>
              </a:ext>
            </a:extLst>
          </p:cNvPr>
          <p:cNvSpPr>
            <a:spLocks noGrp="1"/>
          </p:cNvSpPr>
          <p:nvPr>
            <p:ph type="sldNum" sz="quarter" idx="4"/>
          </p:nvPr>
        </p:nvSpPr>
        <p:spPr>
          <a:xfrm>
            <a:off x="11151543" y="6041362"/>
            <a:ext cx="733957" cy="365125"/>
          </a:xfrm>
          <a:prstGeom prst="rect">
            <a:avLst/>
          </a:prstGeom>
        </p:spPr>
        <p:txBody>
          <a:bodyPr/>
          <a:lstStyle/>
          <a:p>
            <a:fld id="{761DAA7D-07E7-4CC9-A173-94FF02D0AC1F}" type="slidenum">
              <a:rPr lang="tr-TR" smtClean="0"/>
              <a:t>‹#›</a:t>
            </a:fld>
            <a:endParaRPr lang="tr-TR"/>
          </a:p>
        </p:txBody>
      </p:sp>
      <p:pic>
        <p:nvPicPr>
          <p:cNvPr id="2" name="Resim 1">
            <a:extLst>
              <a:ext uri="{FF2B5EF4-FFF2-40B4-BE49-F238E27FC236}">
                <a16:creationId xmlns:a16="http://schemas.microsoft.com/office/drawing/2014/main" id="{44602B21-C742-875E-B6A2-91471D2D589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0454395" y="206601"/>
            <a:ext cx="700266" cy="692100"/>
          </a:xfrm>
          <a:prstGeom prst="rect">
            <a:avLst/>
          </a:prstGeom>
        </p:spPr>
      </p:pic>
      <p:sp>
        <p:nvSpPr>
          <p:cNvPr id="3" name="Başlık Yer Tutucusu 2">
            <a:extLst>
              <a:ext uri="{FF2B5EF4-FFF2-40B4-BE49-F238E27FC236}">
                <a16:creationId xmlns:a16="http://schemas.microsoft.com/office/drawing/2014/main" id="{0A38476F-90CD-6EE8-9F31-F1063B182435}"/>
              </a:ext>
            </a:extLst>
          </p:cNvPr>
          <p:cNvSpPr>
            <a:spLocks noGrp="1"/>
          </p:cNvSpPr>
          <p:nvPr>
            <p:ph type="title"/>
          </p:nvPr>
        </p:nvSpPr>
        <p:spPr>
          <a:xfrm>
            <a:off x="677334" y="1203340"/>
            <a:ext cx="10281955" cy="941380"/>
          </a:xfrm>
          <a:prstGeom prst="rect">
            <a:avLst/>
          </a:prstGeom>
        </p:spPr>
        <p:txBody>
          <a:bodyPr vert="horz" lIns="91440" tIns="45720" rIns="91440" bIns="45720" rtlCol="0" anchor="ctr">
            <a:normAutofit/>
          </a:bodyPr>
          <a:lstStyle/>
          <a:p>
            <a:r>
              <a:rPr lang="tr-TR"/>
              <a:t>Asıl başlık stilini düzenlemek için tıklayın</a:t>
            </a:r>
          </a:p>
        </p:txBody>
      </p:sp>
    </p:spTree>
    <p:extLst>
      <p:ext uri="{BB962C8B-B14F-4D97-AF65-F5344CB8AC3E}">
        <p14:creationId xmlns:p14="http://schemas.microsoft.com/office/powerpoint/2010/main" val="2938024579"/>
      </p:ext>
    </p:extLst>
  </p:cSld>
  <p:clrMap bg1="lt1" tx1="dk1" bg2="lt2" tx2="dk2" accent1="accent1" accent2="accent2" accent3="accent3" accent4="accent4" accent5="accent5" accent6="accent6" hlink="hlink" folHlink="folHlink"/>
  <p:sldLayoutIdLst>
    <p:sldLayoutId id="2147483975" r:id="rId1"/>
    <p:sldLayoutId id="2147483976" r:id="rId2"/>
    <p:sldLayoutId id="2147483992" r:id="rId3"/>
    <p:sldLayoutId id="2147483991"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 id="2147483990" r:id="rId18"/>
  </p:sldLayoutIdLst>
  <p:hf hdr="0"/>
  <p:txStyles>
    <p:titleStyle>
      <a:lvl1pPr algn="l" defTabSz="457200" rtl="0" eaLnBrk="1" latinLnBrk="0" hangingPunct="1">
        <a:spcBef>
          <a:spcPct val="0"/>
        </a:spcBef>
        <a:buNone/>
        <a:defRPr sz="2400" kern="1200">
          <a:solidFill>
            <a:schemeClr val="tx1">
              <a:lumMod val="95000"/>
              <a:lumOff val="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48550/arXiv.2009.12263" TargetMode="External"/><Relationship Id="rId2" Type="http://schemas.openxmlformats.org/officeDocument/2006/relationships/hyperlink" Target="https://doi.org/10.18653/v1/N19-1423" TargetMode="External"/><Relationship Id="rId1" Type="http://schemas.openxmlformats.org/officeDocument/2006/relationships/slideLayout" Target="../slideLayouts/slideLayout2.xml"/><Relationship Id="rId4" Type="http://schemas.openxmlformats.org/officeDocument/2006/relationships/hyperlink" Target="https://doi.org/10.1109/SOCA.2010.5704161" TargetMode="External"/></Relationships>
</file>

<file path=ppt/slides/_rels/slide28.xml.rels><?xml version="1.0" encoding="UTF-8" standalone="yes"?>
<Relationships xmlns="http://schemas.openxmlformats.org/package/2006/relationships"><Relationship Id="rId2" Type="http://schemas.openxmlformats.org/officeDocument/2006/relationships/hyperlink" Target="https://doi.org/10.1145/3184558.3192300"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8653/v1/D19-1410" TargetMode="External"/><Relationship Id="rId2" Type="http://schemas.openxmlformats.org/officeDocument/2006/relationships/hyperlink" Target="https://fastapi.tiangolo.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5281/zenodo.3770924" TargetMode="External"/><Relationship Id="rId2" Type="http://schemas.openxmlformats.org/officeDocument/2006/relationships/hyperlink" Target="https://doi.org/10.1016/j.procs.2020.03.279"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metin, ekran görüntüsü, yazı tipi, logo içeren bir resim&#10;&#10;Yapay zeka tarafından oluşturulmuş içerik yanlış olabilir.">
            <a:extLst>
              <a:ext uri="{FF2B5EF4-FFF2-40B4-BE49-F238E27FC236}">
                <a16:creationId xmlns:a16="http://schemas.microsoft.com/office/drawing/2014/main" id="{42C46780-70FF-4E19-9708-4A50A55DE014}"/>
              </a:ext>
            </a:extLst>
          </p:cNvPr>
          <p:cNvPicPr>
            <a:picLocks noChangeAspect="1"/>
          </p:cNvPicPr>
          <p:nvPr/>
        </p:nvPicPr>
        <p:blipFill>
          <a:blip r:embed="rId3"/>
          <a:stretch>
            <a:fillRect/>
          </a:stretch>
        </p:blipFill>
        <p:spPr>
          <a:xfrm>
            <a:off x="1" y="0"/>
            <a:ext cx="12168186" cy="6858000"/>
          </a:xfrm>
          <a:prstGeom prst="rect">
            <a:avLst/>
          </a:prstGeom>
        </p:spPr>
      </p:pic>
    </p:spTree>
    <p:extLst>
      <p:ext uri="{BB962C8B-B14F-4D97-AF65-F5344CB8AC3E}">
        <p14:creationId xmlns:p14="http://schemas.microsoft.com/office/powerpoint/2010/main" val="1605332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E6C7B-0041-E8D6-270A-4D298F89A072}"/>
            </a:ext>
          </a:extLst>
        </p:cNvPr>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12D7363-56AA-846D-3763-67DD33393B71}"/>
              </a:ext>
            </a:extLst>
          </p:cNvPr>
          <p:cNvSpPr>
            <a:spLocks noGrp="1"/>
          </p:cNvSpPr>
          <p:nvPr>
            <p:ph idx="1"/>
          </p:nvPr>
        </p:nvSpPr>
        <p:spPr>
          <a:xfrm>
            <a:off x="614950" y="2178342"/>
            <a:ext cx="8596668" cy="3880773"/>
          </a:xfrm>
        </p:spPr>
        <p:txBody>
          <a:bodyPr vert="horz" lIns="91440" tIns="45720" rIns="91440" bIns="45720" rtlCol="0" anchor="t">
            <a:normAutofit/>
          </a:bodyPr>
          <a:lstStyle/>
          <a:p>
            <a:pPr algn="just"/>
            <a:r>
              <a:rPr lang="tr-TR"/>
              <a:t>Bu tez çalışmasının temel amacı, işe alım ve ön değerlendirme süreçlerinde özgeçmişlerin ve iş ilanlarının hızlı, tutarlı ve ölçülebilir biçimde karşılaştırılmasını sağlayan, doğal dil işleme ve yapay zeka destekli uçtan uca bir yazılım platformunun geliştirilmesi ve işlevsel olarak doğrulanmasıdır. </a:t>
            </a:r>
          </a:p>
          <a:p>
            <a:pPr marL="0" indent="0" algn="just">
              <a:buNone/>
            </a:pPr>
            <a:r>
              <a:rPr lang="tr-TR" b="1"/>
              <a:t>Erişilmek istenen sonuçlar: </a:t>
            </a:r>
          </a:p>
          <a:p>
            <a:pPr algn="just"/>
            <a:r>
              <a:rPr lang="tr-TR"/>
              <a:t>PDF formatındaki CV'lerden iletişim bilgileri, beceriler, eğitim, iş deneyimi ve yabancı dil bilgisinin otomatik çıkarılması; karmaşık sayfa düzenlerinde metin bütünlüğünün korunması ve gerekirse OCR ile tamamlayıcı okuma.</a:t>
            </a:r>
          </a:p>
          <a:p>
            <a:pPr algn="just"/>
            <a:r>
              <a:rPr lang="tr-TR"/>
              <a:t>Serbest metin iş ilanlarından aranan niteliklerin yapılandırılması: zorunlu ve tercih edilen beceriler, minimum eğitim, deneyim süresi ve dil gereksinimleri.</a:t>
            </a:r>
          </a:p>
        </p:txBody>
      </p:sp>
      <p:sp>
        <p:nvSpPr>
          <p:cNvPr id="3" name="Veri Yer Tutucusu 2">
            <a:extLst>
              <a:ext uri="{FF2B5EF4-FFF2-40B4-BE49-F238E27FC236}">
                <a16:creationId xmlns:a16="http://schemas.microsoft.com/office/drawing/2014/main" id="{61AD309B-656B-F3D9-CB24-7D8B79069D45}"/>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81AEEEAE-F512-6F0A-F5D5-7E07A0A8AA39}"/>
              </a:ext>
            </a:extLst>
          </p:cNvPr>
          <p:cNvSpPr>
            <a:spLocks noGrp="1"/>
          </p:cNvSpPr>
          <p:nvPr>
            <p:ph type="ftr" sz="quarter" idx="11"/>
          </p:nvPr>
        </p:nvSpPr>
        <p:spPr/>
        <p:txBody>
          <a:bodyPr/>
          <a:lstStyle/>
          <a:p>
            <a:r>
              <a:rPr lang="tr-TR"/>
              <a:t>Öğrenci Adı Soyadı :   Azra Kaya                                                                             Öğrenci Numarası: 2112721005</a:t>
            </a:r>
          </a:p>
        </p:txBody>
      </p:sp>
      <p:sp>
        <p:nvSpPr>
          <p:cNvPr id="5" name="Slayt Numarası Yer Tutucusu 4">
            <a:extLst>
              <a:ext uri="{FF2B5EF4-FFF2-40B4-BE49-F238E27FC236}">
                <a16:creationId xmlns:a16="http://schemas.microsoft.com/office/drawing/2014/main" id="{2BC68720-444A-4671-2CD3-2E4FB07DD461}"/>
              </a:ext>
            </a:extLst>
          </p:cNvPr>
          <p:cNvSpPr>
            <a:spLocks noGrp="1"/>
          </p:cNvSpPr>
          <p:nvPr>
            <p:ph type="sldNum" sz="quarter" idx="12"/>
          </p:nvPr>
        </p:nvSpPr>
        <p:spPr>
          <a:xfrm>
            <a:off x="11139637" y="6041362"/>
            <a:ext cx="733957" cy="365125"/>
          </a:xfrm>
        </p:spPr>
        <p:txBody>
          <a:bodyPr/>
          <a:lstStyle/>
          <a:p>
            <a:pPr algn="ctr"/>
            <a:fld id="{761DAA7D-07E7-4CC9-A173-94FF02D0AC1F}" type="slidenum">
              <a:rPr lang="tr-TR" smtClean="0"/>
              <a:pPr algn="ctr"/>
              <a:t>1</a:t>
            </a:fld>
            <a:endParaRPr lang="tr-TR"/>
          </a:p>
        </p:txBody>
      </p:sp>
      <p:sp>
        <p:nvSpPr>
          <p:cNvPr id="6" name="Başlık 5">
            <a:extLst>
              <a:ext uri="{FF2B5EF4-FFF2-40B4-BE49-F238E27FC236}">
                <a16:creationId xmlns:a16="http://schemas.microsoft.com/office/drawing/2014/main" id="{91D764D4-E900-CB8F-D7A5-AB0BCE2B665D}"/>
              </a:ext>
            </a:extLst>
          </p:cNvPr>
          <p:cNvSpPr>
            <a:spLocks noGrp="1"/>
          </p:cNvSpPr>
          <p:nvPr>
            <p:ph type="title"/>
          </p:nvPr>
        </p:nvSpPr>
        <p:spPr>
          <a:xfrm>
            <a:off x="614951" y="1173018"/>
            <a:ext cx="8596668" cy="905164"/>
          </a:xfrm>
        </p:spPr>
        <p:txBody>
          <a:bodyPr/>
          <a:lstStyle/>
          <a:p>
            <a:r>
              <a:rPr lang="tr-TR"/>
              <a:t>1. Tezin Amacı :</a:t>
            </a:r>
          </a:p>
        </p:txBody>
      </p:sp>
    </p:spTree>
    <p:extLst>
      <p:ext uri="{BB962C8B-B14F-4D97-AF65-F5344CB8AC3E}">
        <p14:creationId xmlns:p14="http://schemas.microsoft.com/office/powerpoint/2010/main" val="673725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9AEF547-5F07-E133-8013-4BB2C6AA23B7}"/>
              </a:ext>
            </a:extLst>
          </p:cNvPr>
          <p:cNvSpPr>
            <a:spLocks noGrp="1"/>
          </p:cNvSpPr>
          <p:nvPr>
            <p:ph idx="1"/>
          </p:nvPr>
        </p:nvSpPr>
        <p:spPr/>
        <p:txBody>
          <a:bodyPr vert="horz" lIns="91440" tIns="45720" rIns="91440" bIns="45720" rtlCol="0" anchor="t">
            <a:normAutofit/>
          </a:bodyPr>
          <a:lstStyle/>
          <a:p>
            <a:r>
              <a:rPr lang="tr-TR"/>
              <a:t>Aday-pozisyon uyumunun beceri, deneyim, eğitim ve dil boyutlarında skorların sayısal olarak ifade edilmesi.</a:t>
            </a:r>
          </a:p>
          <a:p>
            <a:r>
              <a:rPr lang="tr-TR"/>
              <a:t>Eksik veya zayıf alanlara yönelik aday için anlaşılır iyileştirme önerilerinin üretilmesi.</a:t>
            </a:r>
          </a:p>
          <a:p>
            <a:r>
              <a:rPr lang="tr-TR"/>
              <a:t>Retrieval-Augmented Generation (RAG) mimarisi ile birden fazla CV üzerinde doğal dilde soru–cevap ve özet bilgi erişimi.</a:t>
            </a:r>
          </a:p>
          <a:p>
            <a:r>
              <a:rPr lang="tr-TR">
                <a:ea typeface="+mn-lt"/>
                <a:cs typeface="+mn-lt"/>
              </a:rPr>
              <a:t>Karar desteği için eşleştirme sonuçlarının PDF rapor olarak sunulması ve web arayüzü ile REST API üzerinden tekrarlanabilir kullanım.</a:t>
            </a:r>
            <a:endParaRPr lang="tr-TR"/>
          </a:p>
        </p:txBody>
      </p:sp>
      <p:sp>
        <p:nvSpPr>
          <p:cNvPr id="3" name="Veri Yer Tutucusu 2">
            <a:extLst>
              <a:ext uri="{FF2B5EF4-FFF2-40B4-BE49-F238E27FC236}">
                <a16:creationId xmlns:a16="http://schemas.microsoft.com/office/drawing/2014/main" id="{CFB6B9CA-841C-48FF-2FCF-64311A7EB18C}"/>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ADE55D39-DB48-63E0-1158-AD61B7EEA105}"/>
              </a:ext>
            </a:extLst>
          </p:cNvPr>
          <p:cNvSpPr>
            <a:spLocks noGrp="1"/>
          </p:cNvSpPr>
          <p:nvPr>
            <p:ph type="ftr" sz="quarter" idx="11"/>
          </p:nvPr>
        </p:nvSpPr>
        <p:spPr/>
        <p:txBody>
          <a:bodyPr/>
          <a:lstStyle/>
          <a:p>
            <a:r>
              <a:rPr lang="tr-TR"/>
              <a:t>Öğrenci Adı Soyadı :    Azra Kaya                                                                            Öğrenci Numarası: 2112721005</a:t>
            </a:r>
          </a:p>
        </p:txBody>
      </p:sp>
      <p:sp>
        <p:nvSpPr>
          <p:cNvPr id="5" name="Slayt Numarası Yer Tutucusu 4">
            <a:extLst>
              <a:ext uri="{FF2B5EF4-FFF2-40B4-BE49-F238E27FC236}">
                <a16:creationId xmlns:a16="http://schemas.microsoft.com/office/drawing/2014/main" id="{B7D02232-112C-E10D-A2EA-3C8C8C5E3325}"/>
              </a:ext>
            </a:extLst>
          </p:cNvPr>
          <p:cNvSpPr>
            <a:spLocks noGrp="1"/>
          </p:cNvSpPr>
          <p:nvPr>
            <p:ph type="sldNum" sz="quarter" idx="12"/>
          </p:nvPr>
        </p:nvSpPr>
        <p:spPr/>
        <p:txBody>
          <a:bodyPr/>
          <a:lstStyle/>
          <a:p>
            <a:pPr algn="ctr"/>
            <a:fld id="{761DAA7D-07E7-4CC9-A173-94FF02D0AC1F}" type="slidenum">
              <a:rPr lang="tr-TR" smtClean="0"/>
              <a:pPr algn="ctr"/>
              <a:t>2</a:t>
            </a:fld>
            <a:endParaRPr lang="tr-TR"/>
          </a:p>
        </p:txBody>
      </p:sp>
      <p:sp>
        <p:nvSpPr>
          <p:cNvPr id="6" name="Başlık 5">
            <a:extLst>
              <a:ext uri="{FF2B5EF4-FFF2-40B4-BE49-F238E27FC236}">
                <a16:creationId xmlns:a16="http://schemas.microsoft.com/office/drawing/2014/main" id="{55FE8032-59FC-683B-063F-07EC69EF0720}"/>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751671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D64045E2-5C66-E17B-F273-E8C64816CA01}"/>
              </a:ext>
            </a:extLst>
          </p:cNvPr>
          <p:cNvSpPr>
            <a:spLocks noGrp="1"/>
          </p:cNvSpPr>
          <p:nvPr>
            <p:ph idx="1"/>
          </p:nvPr>
        </p:nvSpPr>
        <p:spPr>
          <a:xfrm>
            <a:off x="626856" y="1843629"/>
            <a:ext cx="9112138" cy="4429859"/>
          </a:xfrm>
        </p:spPr>
        <p:txBody>
          <a:bodyPr vert="horz" lIns="91440" tIns="45720" rIns="91440" bIns="45720" rtlCol="0" anchor="t">
            <a:noAutofit/>
          </a:bodyPr>
          <a:lstStyle/>
          <a:p>
            <a:pPr algn="just"/>
            <a:r>
              <a:rPr lang="tr-TR" sz="1700">
                <a:ea typeface="+mn-lt"/>
                <a:cs typeface="+mn-lt"/>
              </a:rPr>
              <a:t>Bu tez çalışmasında, işe alım süreçlerinde özgeçmişler ile iş ilanı metinlerinin karşılaştırılmasını desteklemek amacıyla CVMatch AI adlı bir yazılım sistemi geliştirilmiştir.</a:t>
            </a:r>
            <a:endParaRPr lang="tr-TR" sz="1700"/>
          </a:p>
          <a:p>
            <a:pPr algn="just"/>
            <a:r>
              <a:rPr lang="tr-TR" sz="1700">
                <a:ea typeface="+mn-lt"/>
                <a:cs typeface="+mn-lt"/>
              </a:rPr>
              <a:t>Çalışma kapsamında; sistem gereksinimleri analiz edilmiş, mimari tasarım gerçekleştirilmiş, backen ve frontend bileşenleri geliştirilmiş ve tüm sistem bileşenleri entegre edilerek işlevsel doğrulama yapılmıştır.</a:t>
            </a:r>
          </a:p>
          <a:p>
            <a:pPr algn="just"/>
            <a:r>
              <a:rPr lang="tr-TR" sz="1700">
                <a:ea typeface="+mn-lt"/>
                <a:cs typeface="+mn-lt"/>
              </a:rPr>
              <a:t>Geliştirilen sistem;</a:t>
            </a:r>
          </a:p>
          <a:p>
            <a:pPr marL="800100" lvl="1" algn="just">
              <a:buFont typeface="Courier New" charset="2"/>
              <a:buChar char="o"/>
            </a:pPr>
            <a:r>
              <a:rPr lang="tr-TR" sz="1700">
                <a:ea typeface="+mn-lt"/>
                <a:cs typeface="+mn-lt"/>
              </a:rPr>
              <a:t>PDF formatındaki özgeçmişlerden otomatik veri çıkarımı,</a:t>
            </a:r>
            <a:endParaRPr lang="tr-TR" sz="1700"/>
          </a:p>
          <a:p>
            <a:pPr marL="800100" lvl="1" algn="just">
              <a:buFont typeface="Courier New" charset="2"/>
              <a:buChar char="o"/>
            </a:pPr>
            <a:r>
              <a:rPr lang="tr-TR" sz="1700">
                <a:ea typeface="+mn-lt"/>
                <a:cs typeface="+mn-lt"/>
              </a:rPr>
              <a:t>Serbest metin biçimindeki iş ilanlarından aranan niteliklerin yapılandırılması,</a:t>
            </a:r>
          </a:p>
          <a:p>
            <a:pPr marL="800100" lvl="1" algn="just">
              <a:buFont typeface="Courier New" charset="2"/>
              <a:buChar char="o"/>
            </a:pPr>
            <a:r>
              <a:rPr lang="tr-TR" sz="1700">
                <a:ea typeface="+mn-lt"/>
                <a:cs typeface="+mn-lt"/>
              </a:rPr>
              <a:t>Aday–pozisyon uyumunun çok boyutlu ve ağırlıklı skorlar aracılığıyla hesaplanması,</a:t>
            </a:r>
          </a:p>
          <a:p>
            <a:pPr marL="800100" lvl="1" algn="just">
              <a:buFont typeface="Courier New" charset="2"/>
              <a:buChar char="o"/>
            </a:pPr>
            <a:r>
              <a:rPr lang="tr-TR" sz="1700">
                <a:ea typeface="+mn-lt"/>
                <a:cs typeface="+mn-lt"/>
              </a:rPr>
              <a:t>Embedding tabanlı yöntemler ile anlamsal eşleştirme süreçlerinin desteklenmesi,</a:t>
            </a:r>
          </a:p>
          <a:p>
            <a:pPr marL="800100" lvl="1" algn="just">
              <a:buFont typeface="Courier New" charset="2"/>
              <a:buChar char="o"/>
            </a:pPr>
            <a:r>
              <a:rPr lang="tr-TR" sz="1700">
                <a:ea typeface="+mn-lt"/>
                <a:cs typeface="+mn-lt"/>
              </a:rPr>
              <a:t>Elde edilen sonuçların raporlanması ve çoklu aday karşılaştırması işlevlerini kapsamaktadır.</a:t>
            </a:r>
            <a:endParaRPr lang="tr-TR" sz="1700"/>
          </a:p>
        </p:txBody>
      </p:sp>
      <p:sp>
        <p:nvSpPr>
          <p:cNvPr id="3" name="Veri Yer Tutucusu 2">
            <a:extLst>
              <a:ext uri="{FF2B5EF4-FFF2-40B4-BE49-F238E27FC236}">
                <a16:creationId xmlns:a16="http://schemas.microsoft.com/office/drawing/2014/main" id="{5BBFF918-0F9D-664F-AA0E-33114C5D5C0D}"/>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E2419452-5D7A-CA06-5406-21AB3060D3E3}"/>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6F333D6A-EC28-BEDE-A901-EDFEF3B378A6}"/>
              </a:ext>
            </a:extLst>
          </p:cNvPr>
          <p:cNvSpPr>
            <a:spLocks noGrp="1"/>
          </p:cNvSpPr>
          <p:nvPr>
            <p:ph type="sldNum" sz="quarter" idx="12"/>
          </p:nvPr>
        </p:nvSpPr>
        <p:spPr/>
        <p:txBody>
          <a:bodyPr/>
          <a:lstStyle/>
          <a:p>
            <a:pPr algn="ctr"/>
            <a:fld id="{761DAA7D-07E7-4CC9-A173-94FF02D0AC1F}" type="slidenum">
              <a:rPr lang="tr-TR" smtClean="0"/>
              <a:pPr algn="ctr"/>
              <a:t>3</a:t>
            </a:fld>
            <a:endParaRPr lang="tr-TR"/>
          </a:p>
        </p:txBody>
      </p:sp>
      <p:sp>
        <p:nvSpPr>
          <p:cNvPr id="6" name="Başlık 5">
            <a:extLst>
              <a:ext uri="{FF2B5EF4-FFF2-40B4-BE49-F238E27FC236}">
                <a16:creationId xmlns:a16="http://schemas.microsoft.com/office/drawing/2014/main" id="{04081553-166D-7B07-184F-F3C18DD759D3}"/>
              </a:ext>
            </a:extLst>
          </p:cNvPr>
          <p:cNvSpPr>
            <a:spLocks noGrp="1"/>
          </p:cNvSpPr>
          <p:nvPr>
            <p:ph type="title"/>
          </p:nvPr>
        </p:nvSpPr>
        <p:spPr/>
        <p:txBody>
          <a:bodyPr/>
          <a:lstStyle/>
          <a:p>
            <a:r>
              <a:rPr lang="tr-TR"/>
              <a:t>2. Konu ve Kapsam :</a:t>
            </a:r>
          </a:p>
        </p:txBody>
      </p:sp>
    </p:spTree>
    <p:extLst>
      <p:ext uri="{BB962C8B-B14F-4D97-AF65-F5344CB8AC3E}">
        <p14:creationId xmlns:p14="http://schemas.microsoft.com/office/powerpoint/2010/main" val="1325247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0EFFBAC-3D2D-5D78-DB33-64396B6D0DD3}"/>
              </a:ext>
            </a:extLst>
          </p:cNvPr>
          <p:cNvSpPr>
            <a:spLocks noGrp="1"/>
          </p:cNvSpPr>
          <p:nvPr>
            <p:ph idx="1"/>
          </p:nvPr>
        </p:nvSpPr>
        <p:spPr/>
        <p:txBody>
          <a:bodyPr vert="horz" lIns="91440" tIns="45720" rIns="91440" bIns="45720" rtlCol="0" anchor="t">
            <a:normAutofit/>
          </a:bodyPr>
          <a:lstStyle/>
          <a:p>
            <a:r>
              <a:rPr lang="tr-TR">
                <a:ea typeface="+mn-lt"/>
                <a:cs typeface="+mn-lt"/>
              </a:rPr>
              <a:t>Ayrıca sistem, RAG yaklaşımı ile doğal dilde sorgulama imkânı sunmakta; API aracılığıyla erişilebilirlik ve web tabanlı kullanıcı arayüzü ile kullanılabilirlik sağlamaktadır.</a:t>
            </a:r>
          </a:p>
          <a:p>
            <a:r>
              <a:rPr lang="tr-TR">
                <a:ea typeface="+mn-lt"/>
                <a:cs typeface="+mn-lt"/>
              </a:rPr>
              <a:t>Bu çalışma, literatürde yaygın olarak kullanılan tekil yöntemlerin ötesine geçerek, kural tabanlı çıkarım teknikleri ile gömü tabanlı anlamsal yöntemleri bir araya getiren hibrit bir yaklaşım çerçevesinde, uçtan uca bir sistem olarak ele alınmıştır.</a:t>
            </a:r>
            <a:endParaRPr lang="tr-TR"/>
          </a:p>
        </p:txBody>
      </p:sp>
      <p:sp>
        <p:nvSpPr>
          <p:cNvPr id="3" name="Veri Yer Tutucusu 2">
            <a:extLst>
              <a:ext uri="{FF2B5EF4-FFF2-40B4-BE49-F238E27FC236}">
                <a16:creationId xmlns:a16="http://schemas.microsoft.com/office/drawing/2014/main" id="{4AAE4946-C884-66F6-F9A0-E1364AF3F184}"/>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AFFF823C-61C2-C85A-221D-09F2958743B5}"/>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0013D660-379E-9983-1682-B2EB110A2188}"/>
              </a:ext>
            </a:extLst>
          </p:cNvPr>
          <p:cNvSpPr>
            <a:spLocks noGrp="1"/>
          </p:cNvSpPr>
          <p:nvPr>
            <p:ph type="sldNum" sz="quarter" idx="12"/>
          </p:nvPr>
        </p:nvSpPr>
        <p:spPr/>
        <p:txBody>
          <a:bodyPr/>
          <a:lstStyle/>
          <a:p>
            <a:pPr algn="ctr"/>
            <a:fld id="{761DAA7D-07E7-4CC9-A173-94FF02D0AC1F}" type="slidenum">
              <a:rPr lang="tr-TR" smtClean="0"/>
              <a:pPr algn="ctr"/>
              <a:t>4</a:t>
            </a:fld>
            <a:endParaRPr lang="tr-TR"/>
          </a:p>
        </p:txBody>
      </p:sp>
      <p:sp>
        <p:nvSpPr>
          <p:cNvPr id="6" name="Başlık 5">
            <a:extLst>
              <a:ext uri="{FF2B5EF4-FFF2-40B4-BE49-F238E27FC236}">
                <a16:creationId xmlns:a16="http://schemas.microsoft.com/office/drawing/2014/main" id="{75CB1917-026A-F8F6-BB7B-80B7B443AC7B}"/>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417676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E737236-D217-F24E-F64A-FA48A34BAF74}"/>
              </a:ext>
            </a:extLst>
          </p:cNvPr>
          <p:cNvSpPr>
            <a:spLocks noGrp="1"/>
          </p:cNvSpPr>
          <p:nvPr>
            <p:ph idx="1"/>
          </p:nvPr>
        </p:nvSpPr>
        <p:spPr/>
        <p:txBody>
          <a:bodyPr vert="horz" lIns="91440" tIns="45720" rIns="91440" bIns="45720" rtlCol="0" anchor="t">
            <a:normAutofit/>
          </a:bodyPr>
          <a:lstStyle/>
          <a:p>
            <a:pPr marL="0" indent="0" algn="just"/>
            <a:r>
              <a:rPr lang="tr-TR">
                <a:ea typeface="+mn-lt"/>
                <a:cs typeface="+mn-lt"/>
              </a:rPr>
              <a:t>  2010–2018: Başlangıç ve Derin Öğrenme</a:t>
            </a:r>
            <a:endParaRPr lang="tr-TR"/>
          </a:p>
          <a:p>
            <a:pPr marL="800100" lvl="1" indent="-342900" algn="just">
              <a:buFont typeface="Courier New" charset="2"/>
              <a:buChar char="o"/>
            </a:pPr>
            <a:r>
              <a:rPr lang="tr-TR" sz="1800">
                <a:ea typeface="+mn-lt"/>
                <a:cs typeface="+mn-lt"/>
              </a:rPr>
              <a:t>Yapılandırılmamış CV’lerden otomatik bilgi çıkarımı (Kopparapu, 2010)</a:t>
            </a:r>
            <a:endParaRPr lang="tr-TR" sz="1800"/>
          </a:p>
          <a:p>
            <a:pPr marL="800100" lvl="1" indent="-342900" algn="just">
              <a:buFont typeface="Courier New" charset="2"/>
              <a:buChar char="o"/>
            </a:pPr>
            <a:r>
              <a:rPr lang="tr-TR" sz="1800">
                <a:ea typeface="+mn-lt"/>
                <a:cs typeface="+mn-lt"/>
              </a:rPr>
              <a:t>Derin öğrenme ile eşleştirme modelleri:</a:t>
            </a:r>
            <a:endParaRPr lang="tr-TR" sz="1800"/>
          </a:p>
          <a:p>
            <a:pPr marL="1257300" lvl="2" indent="-342900" algn="just">
              <a:buFont typeface="Wingdings" charset="2"/>
              <a:buChar char="§"/>
            </a:pPr>
            <a:r>
              <a:rPr lang="tr-TR" sz="1800">
                <a:ea typeface="+mn-lt"/>
                <a:cs typeface="+mn-lt"/>
              </a:rPr>
              <a:t>Siamese ağlar (Maheshwary &amp; Misra, 2018)</a:t>
            </a:r>
          </a:p>
          <a:p>
            <a:pPr marL="1257300" lvl="2" indent="-342900" algn="just">
              <a:buFont typeface="Wingdings" charset="2"/>
              <a:buChar char="§"/>
            </a:pPr>
            <a:r>
              <a:rPr lang="tr-TR" sz="1800">
                <a:ea typeface="+mn-lt"/>
                <a:cs typeface="+mn-lt"/>
              </a:rPr>
              <a:t>Yetenek odaklı sinir ağları (Qin vd., 2018)</a:t>
            </a:r>
            <a:endParaRPr lang="tr-TR" sz="1800"/>
          </a:p>
        </p:txBody>
      </p:sp>
      <p:sp>
        <p:nvSpPr>
          <p:cNvPr id="3" name="Veri Yer Tutucusu 2">
            <a:extLst>
              <a:ext uri="{FF2B5EF4-FFF2-40B4-BE49-F238E27FC236}">
                <a16:creationId xmlns:a16="http://schemas.microsoft.com/office/drawing/2014/main" id="{7F97BC43-0F02-0DA9-D595-9BFAB40ED3E1}"/>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9F1A6000-46F4-DCFF-C28F-C98A273AFE8F}"/>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53CB0B81-727A-6E60-9BBB-36258B05183F}"/>
              </a:ext>
            </a:extLst>
          </p:cNvPr>
          <p:cNvSpPr>
            <a:spLocks noGrp="1"/>
          </p:cNvSpPr>
          <p:nvPr>
            <p:ph type="sldNum" sz="quarter" idx="12"/>
          </p:nvPr>
        </p:nvSpPr>
        <p:spPr/>
        <p:txBody>
          <a:bodyPr/>
          <a:lstStyle/>
          <a:p>
            <a:pPr algn="ctr"/>
            <a:fld id="{761DAA7D-07E7-4CC9-A173-94FF02D0AC1F}" type="slidenum">
              <a:rPr lang="tr-TR" smtClean="0"/>
              <a:pPr algn="ctr"/>
              <a:t>5</a:t>
            </a:fld>
            <a:endParaRPr lang="tr-TR"/>
          </a:p>
        </p:txBody>
      </p:sp>
      <p:sp>
        <p:nvSpPr>
          <p:cNvPr id="6" name="Başlık 5">
            <a:extLst>
              <a:ext uri="{FF2B5EF4-FFF2-40B4-BE49-F238E27FC236}">
                <a16:creationId xmlns:a16="http://schemas.microsoft.com/office/drawing/2014/main" id="{02769159-50B3-F9D6-3626-4A232DB19203}"/>
              </a:ext>
            </a:extLst>
          </p:cNvPr>
          <p:cNvSpPr>
            <a:spLocks noGrp="1"/>
          </p:cNvSpPr>
          <p:nvPr>
            <p:ph type="title"/>
          </p:nvPr>
        </p:nvSpPr>
        <p:spPr/>
        <p:txBody>
          <a:bodyPr/>
          <a:lstStyle/>
          <a:p>
            <a:r>
              <a:rPr lang="tr-TR"/>
              <a:t>3. Literatür Özeti : </a:t>
            </a:r>
          </a:p>
        </p:txBody>
      </p:sp>
    </p:spTree>
    <p:extLst>
      <p:ext uri="{BB962C8B-B14F-4D97-AF65-F5344CB8AC3E}">
        <p14:creationId xmlns:p14="http://schemas.microsoft.com/office/powerpoint/2010/main" val="1710947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34B36F26-7A9A-34B3-7D5C-5D934CBC9EE6}"/>
              </a:ext>
            </a:extLst>
          </p:cNvPr>
          <p:cNvSpPr>
            <a:spLocks noGrp="1"/>
          </p:cNvSpPr>
          <p:nvPr>
            <p:ph idx="1"/>
          </p:nvPr>
        </p:nvSpPr>
        <p:spPr/>
        <p:txBody>
          <a:bodyPr vert="horz" lIns="91440" tIns="45720" rIns="91440" bIns="45720" rtlCol="0" anchor="t">
            <a:noAutofit/>
          </a:bodyPr>
          <a:lstStyle/>
          <a:p>
            <a:pPr marL="0" indent="0"/>
            <a:r>
              <a:rPr lang="tr-TR">
                <a:ea typeface="+mn-lt"/>
                <a:cs typeface="+mn-lt"/>
              </a:rPr>
              <a:t> 2019: Transformer ve Temsil Öğrenimi</a:t>
            </a:r>
            <a:endParaRPr lang="tr-TR"/>
          </a:p>
          <a:p>
            <a:pPr marL="800100" lvl="1" indent="-342900">
              <a:buFont typeface="Courier New" charset="2"/>
              <a:buChar char="o"/>
            </a:pPr>
            <a:r>
              <a:rPr lang="tr-TR" sz="1800">
                <a:ea typeface="+mn-lt"/>
                <a:cs typeface="+mn-lt"/>
              </a:rPr>
              <a:t>Transformer tabanlı modellerin yükselişi</a:t>
            </a:r>
            <a:endParaRPr lang="tr-TR" sz="1800"/>
          </a:p>
          <a:p>
            <a:pPr marL="800100" lvl="1" indent="-342900">
              <a:buFont typeface="Courier New" charset="2"/>
              <a:buChar char="o"/>
            </a:pPr>
            <a:r>
              <a:rPr lang="tr-TR" sz="1800">
                <a:ea typeface="+mn-lt"/>
                <a:cs typeface="+mn-lt"/>
              </a:rPr>
              <a:t>BERT ve Sentence-BERT:</a:t>
            </a:r>
            <a:endParaRPr lang="tr-TR" sz="1800"/>
          </a:p>
          <a:p>
            <a:pPr marL="1257300" lvl="2" indent="-342900">
              <a:buFont typeface="Wingdings" charset="2"/>
              <a:buChar char="§"/>
            </a:pPr>
            <a:r>
              <a:rPr lang="tr-TR" sz="1800">
                <a:ea typeface="+mn-lt"/>
                <a:cs typeface="+mn-lt"/>
              </a:rPr>
              <a:t>Bağlamsal temsil öğrenimi (Devlin vd., 2019)</a:t>
            </a:r>
          </a:p>
          <a:p>
            <a:pPr marL="1257300" lvl="2" indent="-342900">
              <a:buFont typeface="Wingdings" charset="2"/>
              <a:buChar char="§"/>
            </a:pPr>
            <a:r>
              <a:rPr lang="tr-TR" sz="1800">
                <a:ea typeface="+mn-lt"/>
                <a:cs typeface="+mn-lt"/>
              </a:rPr>
              <a:t>Cümle düzeyinde benzerlik hesaplama (Reimers &amp; Gurevych, 2019)</a:t>
            </a:r>
          </a:p>
          <a:p>
            <a:pPr marL="0" indent="0"/>
            <a:r>
              <a:rPr lang="tr-TR">
                <a:ea typeface="+mn-lt"/>
                <a:cs typeface="+mn-lt"/>
              </a:rPr>
              <a:t>2020 ve sonrası: Üretim ve RAG</a:t>
            </a:r>
            <a:endParaRPr lang="tr-TR"/>
          </a:p>
          <a:p>
            <a:pPr lvl="1">
              <a:buFont typeface="Courier New" charset="2"/>
              <a:buChar char="o"/>
            </a:pPr>
            <a:r>
              <a:rPr lang="tr-TR" sz="1800">
                <a:ea typeface="+mn-lt"/>
                <a:cs typeface="+mn-lt"/>
              </a:rPr>
              <a:t>İş ilanlarından beceri çıkarımı (Gugnani &amp; Misra, 2020)</a:t>
            </a:r>
            <a:endParaRPr lang="tr-TR" sz="1800"/>
          </a:p>
          <a:p>
            <a:pPr lvl="1">
              <a:buFont typeface="Courier New" charset="2"/>
              <a:buChar char="o"/>
            </a:pPr>
            <a:r>
              <a:rPr lang="tr-TR" sz="1800">
                <a:ea typeface="+mn-lt"/>
                <a:cs typeface="+mn-lt"/>
              </a:rPr>
              <a:t>RAG yaklaşımı (Lewis vd., 2020)</a:t>
            </a:r>
            <a:endParaRPr lang="tr-TR" sz="1800"/>
          </a:p>
          <a:p>
            <a:pPr lvl="1">
              <a:buFont typeface="Courier New" charset="2"/>
              <a:buChar char="o"/>
            </a:pPr>
            <a:r>
              <a:rPr lang="tr-TR" sz="1800">
                <a:ea typeface="+mn-lt"/>
                <a:cs typeface="+mn-lt"/>
              </a:rPr>
              <a:t>Metin–metin dönüşüm modelleri (T5) (Raffel vd., 2020)</a:t>
            </a:r>
            <a:endParaRPr lang="tr-TR" sz="1800"/>
          </a:p>
          <a:p>
            <a:pPr lvl="1">
              <a:buFont typeface="Courier New" charset="2"/>
              <a:buChar char="o"/>
            </a:pPr>
            <a:r>
              <a:rPr lang="tr-TR" sz="1800">
                <a:ea typeface="+mn-lt"/>
                <a:cs typeface="+mn-lt"/>
              </a:rPr>
              <a:t>Türkçe için BERT türevleri (Schweter, 2020)</a:t>
            </a:r>
            <a:endParaRPr lang="tr-TR" sz="1800"/>
          </a:p>
        </p:txBody>
      </p:sp>
      <p:sp>
        <p:nvSpPr>
          <p:cNvPr id="3" name="Veri Yer Tutucusu 2">
            <a:extLst>
              <a:ext uri="{FF2B5EF4-FFF2-40B4-BE49-F238E27FC236}">
                <a16:creationId xmlns:a16="http://schemas.microsoft.com/office/drawing/2014/main" id="{7D93E370-59EA-BEA8-8DAD-397B548E07CB}"/>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91DF8B13-7896-9B6B-69B7-2D1A5D9B00F7}"/>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0B7FD56D-800A-C9C2-A116-F1C768B406E8}"/>
              </a:ext>
            </a:extLst>
          </p:cNvPr>
          <p:cNvSpPr>
            <a:spLocks noGrp="1"/>
          </p:cNvSpPr>
          <p:nvPr>
            <p:ph type="sldNum" sz="quarter" idx="12"/>
          </p:nvPr>
        </p:nvSpPr>
        <p:spPr/>
        <p:txBody>
          <a:bodyPr/>
          <a:lstStyle/>
          <a:p>
            <a:pPr algn="ctr"/>
            <a:fld id="{761DAA7D-07E7-4CC9-A173-94FF02D0AC1F}" type="slidenum">
              <a:rPr lang="tr-TR" smtClean="0"/>
              <a:pPr algn="ctr"/>
              <a:t>6</a:t>
            </a:fld>
            <a:endParaRPr lang="tr-TR"/>
          </a:p>
        </p:txBody>
      </p:sp>
      <p:sp>
        <p:nvSpPr>
          <p:cNvPr id="6" name="Başlık 5">
            <a:extLst>
              <a:ext uri="{FF2B5EF4-FFF2-40B4-BE49-F238E27FC236}">
                <a16:creationId xmlns:a16="http://schemas.microsoft.com/office/drawing/2014/main" id="{6A65A789-47EA-63AA-00EB-63580E1D572F}"/>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366439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F4E99E5-AA0E-637B-DF26-25A5595C1B49}"/>
              </a:ext>
            </a:extLst>
          </p:cNvPr>
          <p:cNvSpPr>
            <a:spLocks noGrp="1"/>
          </p:cNvSpPr>
          <p:nvPr>
            <p:ph idx="1"/>
          </p:nvPr>
        </p:nvSpPr>
        <p:spPr/>
        <p:txBody>
          <a:bodyPr vert="horz" lIns="91440" tIns="45720" rIns="91440" bIns="45720" rtlCol="0" anchor="t">
            <a:normAutofit/>
          </a:bodyPr>
          <a:lstStyle/>
          <a:p>
            <a:pPr marL="285750" indent="-285750"/>
            <a:r>
              <a:rPr lang="tr-TR">
                <a:ea typeface="+mn-lt"/>
                <a:cs typeface="+mn-lt"/>
              </a:rPr>
              <a:t>Çalışmaların çoğu: İngilizce veri odaklı, ya anahtar kelime eşleşmesi ya da tek skor üreten modeller. Uçtan uca sistem yaklaşımı, Türkçe içerik desteği, açıklanabilir ve çok boyutlu değerlendirme ise eksik kalan noktalar. </a:t>
            </a:r>
            <a:endParaRPr lang="tr-TR" dirty="0">
              <a:ea typeface="+mn-lt"/>
              <a:cs typeface="+mn-lt"/>
            </a:endParaRPr>
          </a:p>
          <a:p>
            <a:pPr marL="0" indent="0"/>
            <a:r>
              <a:rPr lang="tr-TR"/>
              <a:t> Bu tezin konumu:</a:t>
            </a:r>
          </a:p>
          <a:p>
            <a:pPr marL="457200" lvl="1" indent="0">
              <a:buFont typeface="Courier New" charset="2"/>
              <a:buChar char="o"/>
            </a:pPr>
            <a:r>
              <a:rPr lang="tr-TR" dirty="0">
                <a:ea typeface="+mn-lt"/>
                <a:cs typeface="+mn-lt"/>
              </a:rPr>
              <a:t> </a:t>
            </a:r>
            <a:r>
              <a:rPr lang="tr-TR" sz="1800">
                <a:ea typeface="+mn-lt"/>
                <a:cs typeface="+mn-lt"/>
              </a:rPr>
              <a:t>   Kural tabanlı + embedding hibrit yaklaşım</a:t>
            </a:r>
            <a:endParaRPr lang="tr-TR" sz="1800"/>
          </a:p>
          <a:p>
            <a:pPr marL="800100" lvl="1" indent="-342900">
              <a:buFont typeface="Courier New"/>
              <a:buChar char="o"/>
            </a:pPr>
            <a:r>
              <a:rPr lang="tr-TR" sz="1800">
                <a:ea typeface="+mn-lt"/>
                <a:cs typeface="+mn-lt"/>
              </a:rPr>
              <a:t>Çok boyutlu ve açıklanabilir eşleştirme</a:t>
            </a:r>
            <a:endParaRPr lang="tr-TR" sz="1800"/>
          </a:p>
          <a:p>
            <a:pPr marL="800100" lvl="1" indent="-342900">
              <a:buFont typeface="Courier New" charset="2"/>
              <a:buChar char="o"/>
            </a:pPr>
            <a:r>
              <a:rPr lang="tr-TR" sz="1800">
                <a:ea typeface="+mn-lt"/>
                <a:cs typeface="+mn-lt"/>
              </a:rPr>
              <a:t>RAG ile doğal dilde soru–cevap</a:t>
            </a:r>
            <a:endParaRPr lang="tr-TR" sz="1800"/>
          </a:p>
          <a:p>
            <a:pPr marL="800100" lvl="1" indent="-342900">
              <a:buFont typeface="Courier New" charset="2"/>
              <a:buChar char="o"/>
            </a:pPr>
            <a:r>
              <a:rPr lang="tr-TR" sz="1800">
                <a:ea typeface="+mn-lt"/>
                <a:cs typeface="+mn-lt"/>
              </a:rPr>
              <a:t>PDF raporlama + çoklu CV karşılaştırma</a:t>
            </a:r>
            <a:endParaRPr lang="tr-TR" sz="1800"/>
          </a:p>
          <a:p>
            <a:pPr marL="457200" lvl="1" indent="0">
              <a:buFont typeface="Courier New" charset="2"/>
              <a:buChar char="o"/>
            </a:pPr>
            <a:r>
              <a:rPr lang="tr-TR" sz="1800">
                <a:ea typeface="+mn-lt"/>
                <a:cs typeface="+mn-lt"/>
              </a:rPr>
              <a:t>    Uçtan uca entegre sistem yaklaşımı</a:t>
            </a:r>
            <a:endParaRPr lang="tr-TR" sz="1800"/>
          </a:p>
          <a:p>
            <a:pPr marL="0" indent="0"/>
            <a:endParaRPr lang="tr-TR"/>
          </a:p>
          <a:p>
            <a:endParaRPr lang="tr-TR"/>
          </a:p>
          <a:p>
            <a:endParaRPr lang="tr-TR"/>
          </a:p>
        </p:txBody>
      </p:sp>
      <p:sp>
        <p:nvSpPr>
          <p:cNvPr id="3" name="Veri Yer Tutucusu 2">
            <a:extLst>
              <a:ext uri="{FF2B5EF4-FFF2-40B4-BE49-F238E27FC236}">
                <a16:creationId xmlns:a16="http://schemas.microsoft.com/office/drawing/2014/main" id="{AFE51B31-032C-87D8-0112-F3BD8754209D}"/>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B900E459-821F-D8A7-3665-B42405F1921B}"/>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60BB2CAF-D2A1-2B41-42A9-48FE72ED96C4}"/>
              </a:ext>
            </a:extLst>
          </p:cNvPr>
          <p:cNvSpPr>
            <a:spLocks noGrp="1"/>
          </p:cNvSpPr>
          <p:nvPr>
            <p:ph type="sldNum" sz="quarter" idx="12"/>
          </p:nvPr>
        </p:nvSpPr>
        <p:spPr/>
        <p:txBody>
          <a:bodyPr/>
          <a:lstStyle/>
          <a:p>
            <a:pPr algn="ctr"/>
            <a:fld id="{761DAA7D-07E7-4CC9-A173-94FF02D0AC1F}" type="slidenum">
              <a:rPr lang="tr-TR" smtClean="0"/>
              <a:pPr algn="ctr"/>
              <a:t>7</a:t>
            </a:fld>
            <a:endParaRPr lang="tr-TR"/>
          </a:p>
        </p:txBody>
      </p:sp>
      <p:sp>
        <p:nvSpPr>
          <p:cNvPr id="6" name="Başlık 5">
            <a:extLst>
              <a:ext uri="{FF2B5EF4-FFF2-40B4-BE49-F238E27FC236}">
                <a16:creationId xmlns:a16="http://schemas.microsoft.com/office/drawing/2014/main" id="{27EF4983-E1D8-3F88-5905-0A387392256D}"/>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672233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ECBA7B64-AD78-6658-919D-BAD4A38CDC51}"/>
              </a:ext>
            </a:extLst>
          </p:cNvPr>
          <p:cNvSpPr>
            <a:spLocks noGrp="1"/>
          </p:cNvSpPr>
          <p:nvPr>
            <p:ph idx="1"/>
          </p:nvPr>
        </p:nvSpPr>
        <p:spPr/>
        <p:txBody>
          <a:bodyPr vert="horz" lIns="91440" tIns="45720" rIns="91440" bIns="45720" rtlCol="0" anchor="t">
            <a:normAutofit/>
          </a:bodyPr>
          <a:lstStyle/>
          <a:p>
            <a:pPr algn="just"/>
            <a:r>
              <a:rPr lang="tr-TR">
                <a:ea typeface="+mn-lt"/>
                <a:cs typeface="+mn-lt"/>
              </a:rPr>
              <a:t>Mevcut yaklaşımlar:</a:t>
            </a:r>
          </a:p>
          <a:p>
            <a:pPr marL="742950" lvl="2" algn="just">
              <a:buFont typeface="Wingdings" charset="2"/>
              <a:buChar char="§"/>
            </a:pPr>
            <a:r>
              <a:rPr lang="tr-TR" sz="1800">
                <a:ea typeface="+mn-lt"/>
                <a:cs typeface="+mn-lt"/>
              </a:rPr>
              <a:t>Kural tabanlı yöntemler: Açıklanabilir ancak sınırlı esneklik</a:t>
            </a:r>
            <a:endParaRPr lang="en-US" sz="1800">
              <a:solidFill>
                <a:srgbClr val="000000"/>
              </a:solidFill>
              <a:ea typeface="+mn-lt"/>
              <a:cs typeface="+mn-lt"/>
            </a:endParaRPr>
          </a:p>
          <a:p>
            <a:pPr marL="742950" lvl="2" algn="just">
              <a:buFont typeface="Wingdings" charset="2"/>
              <a:buChar char="§"/>
            </a:pPr>
            <a:r>
              <a:rPr lang="tr-TR" sz="1800">
                <a:ea typeface="+mn-lt"/>
                <a:cs typeface="+mn-lt"/>
              </a:rPr>
              <a:t>Anlamsal (embedding) yöntemler: Esnek ancak düşük yorumlanabilirlik</a:t>
            </a:r>
            <a:endParaRPr lang="tr-TR" sz="1800"/>
          </a:p>
          <a:p>
            <a:pPr algn="just"/>
            <a:r>
              <a:rPr lang="tr-TR">
                <a:ea typeface="+mn-lt"/>
                <a:cs typeface="+mn-lt"/>
              </a:rPr>
              <a:t>Bu tezde:</a:t>
            </a:r>
          </a:p>
          <a:p>
            <a:pPr marL="742950" lvl="2" algn="just">
              <a:buFont typeface="Wingdings" charset="2"/>
              <a:buChar char="§"/>
            </a:pPr>
            <a:r>
              <a:rPr lang="tr-TR" sz="1800">
                <a:ea typeface="+mn-lt"/>
                <a:cs typeface="+mn-lt"/>
              </a:rPr>
              <a:t>Kural tabanlı + anlamsal yöntemlerin hibrit kullanımı</a:t>
            </a:r>
            <a:endParaRPr lang="en-US" sz="1800">
              <a:solidFill>
                <a:srgbClr val="000000"/>
              </a:solidFill>
              <a:ea typeface="+mn-lt"/>
              <a:cs typeface="+mn-lt"/>
            </a:endParaRPr>
          </a:p>
          <a:p>
            <a:pPr marL="742950" lvl="2" algn="just">
              <a:buFont typeface="Wingdings" charset="2"/>
              <a:buChar char="§"/>
            </a:pPr>
            <a:r>
              <a:rPr lang="tr-TR" sz="1800">
                <a:ea typeface="+mn-lt"/>
                <a:cs typeface="+mn-lt"/>
              </a:rPr>
              <a:t>Hem esnek hem de açıklanabilir eşleştirme</a:t>
            </a:r>
            <a:endParaRPr lang="tr-TR" sz="1800"/>
          </a:p>
          <a:p>
            <a:pPr marL="0" indent="0" algn="just"/>
            <a:r>
              <a:rPr lang="tr-TR">
                <a:ea typeface="+mn-lt"/>
                <a:cs typeface="+mn-lt"/>
              </a:rPr>
              <a:t>  Teknik Yenilikler: Çok boyutlu ve ağırlıklı skorlama, Zorunlu / tercih edilen beceri ayrımı, PDF CV’den otomatik veri çıkarımı, İş ilanından yapılandırılmış gereksinim çıkarımı, Adaya özel iyileştirme önerileri, Sonuçların PDF raporlanması, RAG: Çoklu CV üzerinde doğal dilde soru–cevap.</a:t>
            </a:r>
          </a:p>
          <a:p>
            <a:pPr algn="just"/>
            <a:endParaRPr lang="tr-TR">
              <a:ea typeface="+mn-lt"/>
              <a:cs typeface="+mn-lt"/>
            </a:endParaRPr>
          </a:p>
          <a:p>
            <a:pPr marL="800100" lvl="1" indent="-342900" algn="just"/>
            <a:endParaRPr lang="tr-TR" sz="1800">
              <a:ea typeface="+mn-lt"/>
              <a:cs typeface="+mn-lt"/>
            </a:endParaRPr>
          </a:p>
        </p:txBody>
      </p:sp>
      <p:sp>
        <p:nvSpPr>
          <p:cNvPr id="3" name="Veri Yer Tutucusu 2">
            <a:extLst>
              <a:ext uri="{FF2B5EF4-FFF2-40B4-BE49-F238E27FC236}">
                <a16:creationId xmlns:a16="http://schemas.microsoft.com/office/drawing/2014/main" id="{A16C0164-CFCD-2BA1-A8BC-9A96F511539F}"/>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36651A3A-8733-C392-F2C3-40F9CA79F1A1}"/>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9CD7C0F3-83A3-6038-5D5B-15B70964D0BE}"/>
              </a:ext>
            </a:extLst>
          </p:cNvPr>
          <p:cNvSpPr>
            <a:spLocks noGrp="1"/>
          </p:cNvSpPr>
          <p:nvPr>
            <p:ph type="sldNum" sz="quarter" idx="12"/>
          </p:nvPr>
        </p:nvSpPr>
        <p:spPr/>
        <p:txBody>
          <a:bodyPr/>
          <a:lstStyle/>
          <a:p>
            <a:pPr algn="ctr"/>
            <a:fld id="{761DAA7D-07E7-4CC9-A173-94FF02D0AC1F}" type="slidenum">
              <a:rPr lang="tr-TR" smtClean="0"/>
              <a:pPr algn="ctr"/>
              <a:t>8</a:t>
            </a:fld>
            <a:endParaRPr lang="tr-TR"/>
          </a:p>
        </p:txBody>
      </p:sp>
      <p:sp>
        <p:nvSpPr>
          <p:cNvPr id="6" name="Başlık 5">
            <a:extLst>
              <a:ext uri="{FF2B5EF4-FFF2-40B4-BE49-F238E27FC236}">
                <a16:creationId xmlns:a16="http://schemas.microsoft.com/office/drawing/2014/main" id="{D05C8EA0-B58A-4A02-3377-CDD110037E38}"/>
              </a:ext>
            </a:extLst>
          </p:cNvPr>
          <p:cNvSpPr>
            <a:spLocks noGrp="1"/>
          </p:cNvSpPr>
          <p:nvPr>
            <p:ph type="title"/>
          </p:nvPr>
        </p:nvSpPr>
        <p:spPr/>
        <p:txBody>
          <a:bodyPr/>
          <a:lstStyle/>
          <a:p>
            <a:r>
              <a:rPr lang="tr-TR"/>
              <a:t>4. Özgün Değer :</a:t>
            </a:r>
          </a:p>
        </p:txBody>
      </p:sp>
    </p:spTree>
    <p:extLst>
      <p:ext uri="{BB962C8B-B14F-4D97-AF65-F5344CB8AC3E}">
        <p14:creationId xmlns:p14="http://schemas.microsoft.com/office/powerpoint/2010/main" val="263496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EFD61607-D9D3-4AC3-89BC-83C45D03CB9A}"/>
              </a:ext>
            </a:extLst>
          </p:cNvPr>
          <p:cNvSpPr>
            <a:spLocks noGrp="1"/>
          </p:cNvSpPr>
          <p:nvPr>
            <p:ph idx="1"/>
          </p:nvPr>
        </p:nvSpPr>
        <p:spPr/>
        <p:txBody>
          <a:bodyPr vert="horz" lIns="91440" tIns="45720" rIns="91440" bIns="45720" rtlCol="0" anchor="t">
            <a:normAutofit/>
          </a:bodyPr>
          <a:lstStyle/>
          <a:p>
            <a:r>
              <a:rPr lang="tr-TR" b="1"/>
              <a:t>Literatüre Katkı</a:t>
            </a:r>
          </a:p>
          <a:p>
            <a:pPr marL="457200" lvl="1" indent="0">
              <a:buFont typeface="Courier New" charset="2"/>
              <a:buChar char="o"/>
            </a:pPr>
            <a:r>
              <a:rPr lang="tr-TR" sz="1800">
                <a:ea typeface="+mn-lt"/>
                <a:cs typeface="+mn-lt"/>
              </a:rPr>
              <a:t>   Hibrit mimari ile: Anahtar kelime - kara kutu model arasına yeni yaklaşım </a:t>
            </a:r>
            <a:endParaRPr lang="tr-TR" sz="1800"/>
          </a:p>
          <a:p>
            <a:pPr marL="800100" lvl="1" indent="-342900">
              <a:buFont typeface="Courier New" charset="2"/>
              <a:buChar char="o"/>
            </a:pPr>
            <a:r>
              <a:rPr lang="tr-TR" sz="1800">
                <a:ea typeface="+mn-lt"/>
                <a:cs typeface="+mn-lt"/>
              </a:rPr>
              <a:t>Türkçe odaklı: Literatürdeki İngilizce ağırlığını dengeleme </a:t>
            </a:r>
            <a:endParaRPr lang="tr-TR" sz="1800"/>
          </a:p>
          <a:p>
            <a:pPr marL="800100" lvl="1" indent="-342900">
              <a:buFont typeface="Courier New" charset="2"/>
              <a:buChar char="o"/>
            </a:pPr>
            <a:r>
              <a:rPr lang="tr-TR" sz="1800">
                <a:ea typeface="+mn-lt"/>
                <a:cs typeface="+mn-lt"/>
              </a:rPr>
              <a:t>Uçtan uca sistem: Analiz + eşleştirme + raporlama + sorgulama </a:t>
            </a:r>
            <a:endParaRPr lang="tr-TR" sz="1800"/>
          </a:p>
          <a:p>
            <a:pPr marL="800100" lvl="1" indent="-342900">
              <a:buFont typeface="Courier New" charset="2"/>
              <a:buChar char="o"/>
            </a:pPr>
            <a:r>
              <a:rPr lang="tr-TR" sz="1800">
                <a:ea typeface="+mn-lt"/>
                <a:cs typeface="+mn-lt"/>
              </a:rPr>
              <a:t>API + web arayüzü ile: Tekrarlanabilir ve genişletilebilir yapı</a:t>
            </a:r>
            <a:endParaRPr lang="tr-TR" sz="1800"/>
          </a:p>
          <a:p>
            <a:endParaRPr lang="tr-TR" b="1"/>
          </a:p>
        </p:txBody>
      </p:sp>
      <p:sp>
        <p:nvSpPr>
          <p:cNvPr id="3" name="Veri Yer Tutucusu 2">
            <a:extLst>
              <a:ext uri="{FF2B5EF4-FFF2-40B4-BE49-F238E27FC236}">
                <a16:creationId xmlns:a16="http://schemas.microsoft.com/office/drawing/2014/main" id="{652E1D98-BF1E-C858-C07E-4A34FEF59AA2}"/>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E1A5211E-8969-7AF0-1553-6A1D091DC103}"/>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7747FAEB-CCE7-3655-67E7-212FE391EFFC}"/>
              </a:ext>
            </a:extLst>
          </p:cNvPr>
          <p:cNvSpPr>
            <a:spLocks noGrp="1"/>
          </p:cNvSpPr>
          <p:nvPr>
            <p:ph type="sldNum" sz="quarter" idx="12"/>
          </p:nvPr>
        </p:nvSpPr>
        <p:spPr/>
        <p:txBody>
          <a:bodyPr/>
          <a:lstStyle/>
          <a:p>
            <a:pPr algn="ctr"/>
            <a:fld id="{761DAA7D-07E7-4CC9-A173-94FF02D0AC1F}" type="slidenum">
              <a:rPr lang="tr-TR" smtClean="0"/>
              <a:pPr algn="ctr"/>
              <a:t>9</a:t>
            </a:fld>
            <a:endParaRPr lang="tr-TR"/>
          </a:p>
        </p:txBody>
      </p:sp>
      <p:sp>
        <p:nvSpPr>
          <p:cNvPr id="6" name="Başlık 5">
            <a:extLst>
              <a:ext uri="{FF2B5EF4-FFF2-40B4-BE49-F238E27FC236}">
                <a16:creationId xmlns:a16="http://schemas.microsoft.com/office/drawing/2014/main" id="{48AE03C5-9E87-3130-D1E7-B5557E9EE7AE}"/>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572648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çerik Yer Tutucusu 6" descr="metin, ekran görüntüsü, yazı tipi, tasarım içeren bir resim&#10;&#10;Yapay zeka tarafından oluşturulmuş içerik yanlış olabilir.">
            <a:extLst>
              <a:ext uri="{FF2B5EF4-FFF2-40B4-BE49-F238E27FC236}">
                <a16:creationId xmlns:a16="http://schemas.microsoft.com/office/drawing/2014/main" id="{5EEA1FBD-F2E2-79C2-8015-0FFBA419B95C}"/>
              </a:ext>
            </a:extLst>
          </p:cNvPr>
          <p:cNvPicPr>
            <a:picLocks noGrp="1" noChangeAspect="1"/>
          </p:cNvPicPr>
          <p:nvPr>
            <p:ph idx="1"/>
          </p:nvPr>
        </p:nvPicPr>
        <p:blipFill>
          <a:blip r:embed="rId2"/>
          <a:stretch>
            <a:fillRect/>
          </a:stretch>
        </p:blipFill>
        <p:spPr>
          <a:xfrm>
            <a:off x="3051971" y="1630655"/>
            <a:ext cx="4175062" cy="4333211"/>
          </a:xfrm>
          <a:prstGeom prst="rect">
            <a:avLst/>
          </a:prstGeom>
        </p:spPr>
      </p:pic>
      <p:sp>
        <p:nvSpPr>
          <p:cNvPr id="3" name="Veri Yer Tutucusu 2">
            <a:extLst>
              <a:ext uri="{FF2B5EF4-FFF2-40B4-BE49-F238E27FC236}">
                <a16:creationId xmlns:a16="http://schemas.microsoft.com/office/drawing/2014/main" id="{094FCC5D-2E22-3E2E-D02C-04330EE05CB9}"/>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B24E9F25-C3D7-4F12-2BDC-DDB7423B1533}"/>
              </a:ext>
            </a:extLst>
          </p:cNvPr>
          <p:cNvSpPr>
            <a:spLocks noGrp="1"/>
          </p:cNvSpPr>
          <p:nvPr>
            <p:ph type="ftr" sz="quarter" idx="11"/>
          </p:nvPr>
        </p:nvSpPr>
        <p:spPr/>
        <p:txBody>
          <a:bodyPr/>
          <a:lstStyle/>
          <a:p>
            <a:r>
              <a:rPr lang="tr-TR"/>
              <a:t>Öğrenci Adı Soyadı :   Azra Kaya                                                                             Öğrenci Numarası: 2112721005</a:t>
            </a:r>
          </a:p>
        </p:txBody>
      </p:sp>
      <p:sp>
        <p:nvSpPr>
          <p:cNvPr id="5" name="Slayt Numarası Yer Tutucusu 4">
            <a:extLst>
              <a:ext uri="{FF2B5EF4-FFF2-40B4-BE49-F238E27FC236}">
                <a16:creationId xmlns:a16="http://schemas.microsoft.com/office/drawing/2014/main" id="{5B856403-3EBF-20AB-754B-1D9C35144A8A}"/>
              </a:ext>
            </a:extLst>
          </p:cNvPr>
          <p:cNvSpPr>
            <a:spLocks noGrp="1"/>
          </p:cNvSpPr>
          <p:nvPr>
            <p:ph type="sldNum" sz="quarter" idx="12"/>
          </p:nvPr>
        </p:nvSpPr>
        <p:spPr/>
        <p:txBody>
          <a:bodyPr/>
          <a:lstStyle/>
          <a:p>
            <a:pPr algn="ctr"/>
            <a:fld id="{761DAA7D-07E7-4CC9-A173-94FF02D0AC1F}" type="slidenum">
              <a:rPr lang="tr-TR" smtClean="0"/>
              <a:pPr algn="ctr"/>
              <a:t>10</a:t>
            </a:fld>
            <a:endParaRPr lang="tr-TR"/>
          </a:p>
        </p:txBody>
      </p:sp>
      <p:sp>
        <p:nvSpPr>
          <p:cNvPr id="6" name="Başlık 5">
            <a:extLst>
              <a:ext uri="{FF2B5EF4-FFF2-40B4-BE49-F238E27FC236}">
                <a16:creationId xmlns:a16="http://schemas.microsoft.com/office/drawing/2014/main" id="{EC9E81B2-5DEB-5972-DB32-5B382E83D418}"/>
              </a:ext>
            </a:extLst>
          </p:cNvPr>
          <p:cNvSpPr>
            <a:spLocks noGrp="1"/>
          </p:cNvSpPr>
          <p:nvPr>
            <p:ph type="title"/>
          </p:nvPr>
        </p:nvSpPr>
        <p:spPr/>
        <p:txBody>
          <a:bodyPr/>
          <a:lstStyle/>
          <a:p>
            <a:r>
              <a:rPr lang="tr-TR">
                <a:ea typeface="+mj-lt"/>
                <a:cs typeface="+mj-lt"/>
              </a:rPr>
              <a:t>5. Yöntem : </a:t>
            </a:r>
            <a:endParaRPr lang="tr-TR"/>
          </a:p>
        </p:txBody>
      </p:sp>
      <p:sp>
        <p:nvSpPr>
          <p:cNvPr id="9" name="Metin kutusu 8">
            <a:extLst>
              <a:ext uri="{FF2B5EF4-FFF2-40B4-BE49-F238E27FC236}">
                <a16:creationId xmlns:a16="http://schemas.microsoft.com/office/drawing/2014/main" id="{36FD4CB5-BC87-B2B5-8C96-A1C35083CC70}"/>
              </a:ext>
            </a:extLst>
          </p:cNvPr>
          <p:cNvSpPr txBox="1"/>
          <p:nvPr/>
        </p:nvSpPr>
        <p:spPr>
          <a:xfrm>
            <a:off x="3631173" y="5967204"/>
            <a:ext cx="469582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200"/>
              <a:t>5.1 CVMatch İş Akış Şeması</a:t>
            </a:r>
          </a:p>
        </p:txBody>
      </p:sp>
    </p:spTree>
    <p:extLst>
      <p:ext uri="{BB962C8B-B14F-4D97-AF65-F5344CB8AC3E}">
        <p14:creationId xmlns:p14="http://schemas.microsoft.com/office/powerpoint/2010/main" val="910398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A4CF567-9101-E76C-D8A1-588EB32E0892}"/>
              </a:ext>
            </a:extLst>
          </p:cNvPr>
          <p:cNvSpPr>
            <a:spLocks noGrp="1"/>
          </p:cNvSpPr>
          <p:nvPr>
            <p:ph idx="1"/>
          </p:nvPr>
        </p:nvSpPr>
        <p:spPr/>
        <p:txBody>
          <a:bodyPr vert="horz" lIns="91440" tIns="45720" rIns="91440" bIns="45720" rtlCol="0" anchor="t">
            <a:normAutofit/>
          </a:bodyPr>
          <a:lstStyle/>
          <a:p>
            <a:pPr algn="just"/>
            <a:r>
              <a:rPr lang="tr-TR" b="1">
                <a:ea typeface="+mn-lt"/>
                <a:cs typeface="+mn-lt"/>
              </a:rPr>
              <a:t>YÖNTEM</a:t>
            </a:r>
            <a:endParaRPr lang="tr-TR"/>
          </a:p>
          <a:p>
            <a:pPr marL="457200" lvl="1" indent="0" algn="just">
              <a:buFont typeface="Courier New" charset="2"/>
              <a:buChar char="o"/>
            </a:pPr>
            <a:r>
              <a:rPr lang="tr-TR" sz="1800">
                <a:ea typeface="+mn-lt"/>
                <a:cs typeface="+mn-lt"/>
              </a:rPr>
              <a:t> Çalışmada kullanılan veriler: Özgeçmiş ve iş ilanı metinleri, veri tabanı kayıtları ve sistem çıktıları</a:t>
            </a:r>
            <a:endParaRPr lang="tr-TR" sz="1800"/>
          </a:p>
          <a:p>
            <a:pPr marL="457200" lvl="1" indent="0" algn="just">
              <a:buFont typeface="Courier New" charset="2"/>
              <a:buChar char="o"/>
            </a:pPr>
            <a:r>
              <a:rPr lang="tr-TR" sz="1800">
                <a:ea typeface="+mn-lt"/>
                <a:cs typeface="+mn-lt"/>
              </a:rPr>
              <a:t> İncelenen Parametreler: </a:t>
            </a:r>
          </a:p>
          <a:p>
            <a:pPr marL="914400" lvl="2" algn="just">
              <a:buFont typeface="Wingdings" charset="2"/>
              <a:buChar char="§"/>
            </a:pPr>
            <a:r>
              <a:rPr lang="tr-TR" sz="1800">
                <a:ea typeface="+mn-lt"/>
                <a:cs typeface="+mn-lt"/>
              </a:rPr>
              <a:t>İş İlanı: Zorunlu / tercih edilen beceriler, eğitim, deneyim, dil gereksinimleri</a:t>
            </a:r>
            <a:endParaRPr lang="tr-TR" sz="1800"/>
          </a:p>
          <a:p>
            <a:pPr marL="914400" lvl="2" algn="just">
              <a:buFont typeface="Wingdings" charset="2"/>
              <a:buChar char="§"/>
            </a:pPr>
            <a:r>
              <a:rPr lang="tr-TR" sz="1800">
                <a:ea typeface="+mn-lt"/>
                <a:cs typeface="+mn-lt"/>
              </a:rPr>
              <a:t>Özgeçmiş: Beceri, eğitim, deneyim, dil bilgisi, PDF’ten çıkarılan ham metin</a:t>
            </a:r>
            <a:endParaRPr lang="tr-TR" sz="1800"/>
          </a:p>
          <a:p>
            <a:pPr marL="457200" lvl="1" algn="just">
              <a:buFont typeface="Courier New" charset="2"/>
              <a:buChar char="o"/>
            </a:pPr>
            <a:endParaRPr lang="tr-TR" sz="1800">
              <a:ea typeface="+mn-lt"/>
              <a:cs typeface="+mn-lt"/>
            </a:endParaRPr>
          </a:p>
          <a:p>
            <a:pPr marL="0" indent="0" algn="just"/>
            <a:endParaRPr lang="tr-TR">
              <a:ea typeface="+mn-lt"/>
              <a:cs typeface="+mn-lt"/>
            </a:endParaRPr>
          </a:p>
          <a:p>
            <a:pPr algn="just"/>
            <a:endParaRPr lang="tr-TR" b="1">
              <a:ea typeface="+mn-lt"/>
              <a:cs typeface="+mn-lt"/>
            </a:endParaRPr>
          </a:p>
        </p:txBody>
      </p:sp>
      <p:sp>
        <p:nvSpPr>
          <p:cNvPr id="3" name="Veri Yer Tutucusu 2">
            <a:extLst>
              <a:ext uri="{FF2B5EF4-FFF2-40B4-BE49-F238E27FC236}">
                <a16:creationId xmlns:a16="http://schemas.microsoft.com/office/drawing/2014/main" id="{6DE1493C-4C78-4F9B-54AF-9648BC2AF217}"/>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C9CC4C7B-6618-2BD0-8450-40C380FCB129}"/>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8CC6BCAF-414C-E8D1-9351-6F1F93FE832F}"/>
              </a:ext>
            </a:extLst>
          </p:cNvPr>
          <p:cNvSpPr>
            <a:spLocks noGrp="1"/>
          </p:cNvSpPr>
          <p:nvPr>
            <p:ph type="sldNum" sz="quarter" idx="12"/>
          </p:nvPr>
        </p:nvSpPr>
        <p:spPr/>
        <p:txBody>
          <a:bodyPr/>
          <a:lstStyle/>
          <a:p>
            <a:pPr algn="ctr"/>
            <a:fld id="{761DAA7D-07E7-4CC9-A173-94FF02D0AC1F}" type="slidenum">
              <a:rPr lang="tr-TR" smtClean="0"/>
              <a:pPr algn="ctr"/>
              <a:t>11</a:t>
            </a:fld>
            <a:endParaRPr lang="tr-TR"/>
          </a:p>
        </p:txBody>
      </p:sp>
      <p:sp>
        <p:nvSpPr>
          <p:cNvPr id="6" name="Başlık 5">
            <a:extLst>
              <a:ext uri="{FF2B5EF4-FFF2-40B4-BE49-F238E27FC236}">
                <a16:creationId xmlns:a16="http://schemas.microsoft.com/office/drawing/2014/main" id="{6535320A-19D6-68CA-7403-00616F5E3E5E}"/>
              </a:ext>
            </a:extLst>
          </p:cNvPr>
          <p:cNvSpPr>
            <a:spLocks noGrp="1"/>
          </p:cNvSpPr>
          <p:nvPr>
            <p:ph type="title"/>
          </p:nvPr>
        </p:nvSpPr>
        <p:spPr/>
        <p:txBody>
          <a:bodyPr/>
          <a:lstStyle/>
          <a:p>
            <a:endParaRPr lang="tr-TR" dirty="0"/>
          </a:p>
        </p:txBody>
      </p:sp>
    </p:spTree>
    <p:extLst>
      <p:ext uri="{BB962C8B-B14F-4D97-AF65-F5344CB8AC3E}">
        <p14:creationId xmlns:p14="http://schemas.microsoft.com/office/powerpoint/2010/main" val="582462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DBDC1A9-BA02-C0E9-59AB-05A9565572BC}"/>
              </a:ext>
            </a:extLst>
          </p:cNvPr>
          <p:cNvSpPr>
            <a:spLocks noGrp="1"/>
          </p:cNvSpPr>
          <p:nvPr>
            <p:ph idx="1"/>
          </p:nvPr>
        </p:nvSpPr>
        <p:spPr/>
        <p:txBody>
          <a:bodyPr vert="horz" lIns="91440" tIns="45720" rIns="91440" bIns="45720" rtlCol="0" anchor="t">
            <a:normAutofit/>
          </a:bodyPr>
          <a:lstStyle/>
          <a:p>
            <a:r>
              <a:rPr lang="tr-TR" b="1"/>
              <a:t>DEĞERLENDİRME VE YAKLAŞIM</a:t>
            </a:r>
          </a:p>
          <a:p>
            <a:pPr marL="800100" lvl="1" indent="-342900">
              <a:buFont typeface="Courier New" charset="2"/>
              <a:buChar char="o"/>
            </a:pPr>
            <a:r>
              <a:rPr lang="tr-TR" sz="1800">
                <a:ea typeface="+mn-lt"/>
                <a:cs typeface="+mn-lt"/>
              </a:rPr>
              <a:t>Çalışmada elde edilen veriler, uyum skorları, beceri eşleşmeleri ve eğitim-deneyim karşılaştırmalarına dayanmaktadır.</a:t>
            </a:r>
          </a:p>
          <a:p>
            <a:pPr marL="800100" lvl="1" indent="-342900">
              <a:buFont typeface="Courier New" charset="2"/>
              <a:buChar char="o"/>
            </a:pPr>
            <a:r>
              <a:rPr lang="tr-TR" sz="1800">
                <a:ea typeface="+mn-lt"/>
                <a:cs typeface="+mn-lt"/>
              </a:rPr>
              <a:t>Değerlendirme, işlevsel doğrulama ve gözlemsel analiz ile yapılmıştır.</a:t>
            </a:r>
          </a:p>
          <a:p>
            <a:pPr marL="800100" lvl="1" indent="-342900">
              <a:buFont typeface="Courier New" charset="2"/>
              <a:buChar char="o"/>
            </a:pPr>
            <a:r>
              <a:rPr lang="tr-TR" sz="1800">
                <a:ea typeface="+mn-lt"/>
                <a:cs typeface="+mn-lt"/>
              </a:rPr>
              <a:t>Bu kapsamda her bir CV ve iş ilanı çifti için alt skorlar ve genel uyum skoru incelenmiştir.</a:t>
            </a:r>
            <a:endParaRPr lang="tr-TR" sz="1800"/>
          </a:p>
          <a:p>
            <a:pPr marL="800100" lvl="1" indent="-342900">
              <a:buFont typeface="Courier New" charset="2"/>
              <a:buChar char="o"/>
            </a:pPr>
            <a:r>
              <a:rPr lang="tr-TR" sz="1800">
                <a:ea typeface="+mn-lt"/>
                <a:cs typeface="+mn-lt"/>
              </a:rPr>
              <a:t>RAG yaklaşımı ile, çoklu özgeçmişlerde doğal dil sorularına verilen yanıtların metinle tutarlılığı gözlemlenmiştir.</a:t>
            </a:r>
            <a:endParaRPr lang="tr-TR" sz="1800"/>
          </a:p>
          <a:p>
            <a:pPr marL="800100" lvl="1" indent="-342900">
              <a:buFont typeface="Courier New" charset="2"/>
              <a:buChar char="o"/>
            </a:pPr>
            <a:r>
              <a:rPr lang="tr-TR" sz="1800">
                <a:ea typeface="+mn-lt"/>
                <a:cs typeface="+mn-lt"/>
              </a:rPr>
              <a:t>Geniş ölçekli nicel performans ölçümleri bu çalışmada kapsam dışı bırakılmıştır.</a:t>
            </a:r>
            <a:endParaRPr lang="tr-TR" sz="1800"/>
          </a:p>
        </p:txBody>
      </p:sp>
      <p:sp>
        <p:nvSpPr>
          <p:cNvPr id="3" name="Veri Yer Tutucusu 2">
            <a:extLst>
              <a:ext uri="{FF2B5EF4-FFF2-40B4-BE49-F238E27FC236}">
                <a16:creationId xmlns:a16="http://schemas.microsoft.com/office/drawing/2014/main" id="{0881F337-5BEA-51EB-BD15-75A8019A13DD}"/>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365559F5-1242-5371-0A54-679B84071376}"/>
              </a:ext>
            </a:extLst>
          </p:cNvPr>
          <p:cNvSpPr>
            <a:spLocks noGrp="1"/>
          </p:cNvSpPr>
          <p:nvPr>
            <p:ph type="ftr" sz="quarter" idx="11"/>
          </p:nvPr>
        </p:nvSpPr>
        <p:spPr/>
        <p:txBody>
          <a:bodyPr/>
          <a:lstStyle/>
          <a:p>
            <a:r>
              <a:rPr lang="tr-TR">
                <a:ea typeface="+mn-lt"/>
                <a:cs typeface="+mn-lt"/>
              </a:rPr>
              <a:t>Öğrenci Adı Soyadı :    Azra Kaya                                                                            Öğrenci Numarası: 2112721005 </a:t>
            </a:r>
          </a:p>
        </p:txBody>
      </p:sp>
      <p:sp>
        <p:nvSpPr>
          <p:cNvPr id="5" name="Slayt Numarası Yer Tutucusu 4">
            <a:extLst>
              <a:ext uri="{FF2B5EF4-FFF2-40B4-BE49-F238E27FC236}">
                <a16:creationId xmlns:a16="http://schemas.microsoft.com/office/drawing/2014/main" id="{F4956A3E-84B9-B26C-C2E8-7DF6630A497F}"/>
              </a:ext>
            </a:extLst>
          </p:cNvPr>
          <p:cNvSpPr>
            <a:spLocks noGrp="1"/>
          </p:cNvSpPr>
          <p:nvPr>
            <p:ph type="sldNum" sz="quarter" idx="12"/>
          </p:nvPr>
        </p:nvSpPr>
        <p:spPr/>
        <p:txBody>
          <a:bodyPr/>
          <a:lstStyle/>
          <a:p>
            <a:pPr algn="ctr"/>
            <a:fld id="{761DAA7D-07E7-4CC9-A173-94FF02D0AC1F}" type="slidenum">
              <a:rPr lang="tr-TR" smtClean="0"/>
              <a:pPr algn="ctr"/>
              <a:t>12</a:t>
            </a:fld>
            <a:endParaRPr lang="tr-TR"/>
          </a:p>
        </p:txBody>
      </p:sp>
      <p:sp>
        <p:nvSpPr>
          <p:cNvPr id="6" name="Başlık 5">
            <a:extLst>
              <a:ext uri="{FF2B5EF4-FFF2-40B4-BE49-F238E27FC236}">
                <a16:creationId xmlns:a16="http://schemas.microsoft.com/office/drawing/2014/main" id="{CB313DD4-F9D3-C7CB-E921-94F78A2F781D}"/>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4071647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ri Yer Tutucusu 2">
            <a:extLst>
              <a:ext uri="{FF2B5EF4-FFF2-40B4-BE49-F238E27FC236}">
                <a16:creationId xmlns:a16="http://schemas.microsoft.com/office/drawing/2014/main" id="{E5CA5FD6-3533-D0B3-06BD-E7CA99D99B67}"/>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D0BFF3E5-EA24-3D4E-7318-221A324DF8EA}"/>
              </a:ext>
            </a:extLst>
          </p:cNvPr>
          <p:cNvSpPr>
            <a:spLocks noGrp="1"/>
          </p:cNvSpPr>
          <p:nvPr>
            <p:ph type="ftr" sz="quarter" idx="11"/>
          </p:nvPr>
        </p:nvSpPr>
        <p:spPr/>
        <p:txBody>
          <a:bodyPr/>
          <a:lstStyle/>
          <a:p>
            <a:r>
              <a:rPr lang="tr-TR"/>
              <a:t>Öğrenci Adı Soyadı :Azra Kaya                                                                                Öğrenci Numarası: 2112721005</a:t>
            </a:r>
          </a:p>
        </p:txBody>
      </p:sp>
      <p:sp>
        <p:nvSpPr>
          <p:cNvPr id="5" name="Slayt Numarası Yer Tutucusu 4">
            <a:extLst>
              <a:ext uri="{FF2B5EF4-FFF2-40B4-BE49-F238E27FC236}">
                <a16:creationId xmlns:a16="http://schemas.microsoft.com/office/drawing/2014/main" id="{8A22267B-6FB5-D892-C9F7-2D71C0AE576A}"/>
              </a:ext>
            </a:extLst>
          </p:cNvPr>
          <p:cNvSpPr>
            <a:spLocks noGrp="1"/>
          </p:cNvSpPr>
          <p:nvPr>
            <p:ph type="sldNum" sz="quarter" idx="12"/>
          </p:nvPr>
        </p:nvSpPr>
        <p:spPr/>
        <p:txBody>
          <a:bodyPr/>
          <a:lstStyle/>
          <a:p>
            <a:pPr algn="ctr"/>
            <a:fld id="{761DAA7D-07E7-4CC9-A173-94FF02D0AC1F}" type="slidenum">
              <a:rPr lang="tr-TR" smtClean="0"/>
              <a:pPr algn="ctr"/>
              <a:t>13</a:t>
            </a:fld>
            <a:endParaRPr lang="tr-TR"/>
          </a:p>
        </p:txBody>
      </p:sp>
      <p:sp>
        <p:nvSpPr>
          <p:cNvPr id="6" name="Başlık 5">
            <a:extLst>
              <a:ext uri="{FF2B5EF4-FFF2-40B4-BE49-F238E27FC236}">
                <a16:creationId xmlns:a16="http://schemas.microsoft.com/office/drawing/2014/main" id="{504C4D8A-D9AD-3757-8FBF-F7CB89C82CBF}"/>
              </a:ext>
            </a:extLst>
          </p:cNvPr>
          <p:cNvSpPr>
            <a:spLocks noGrp="1"/>
          </p:cNvSpPr>
          <p:nvPr>
            <p:ph type="title"/>
          </p:nvPr>
        </p:nvSpPr>
        <p:spPr/>
        <p:txBody>
          <a:bodyPr/>
          <a:lstStyle/>
          <a:p>
            <a:r>
              <a:rPr lang="tr-TR"/>
              <a:t>6. Araştırma Bulguları ve Tartışma:</a:t>
            </a:r>
            <a:endParaRPr lang="tr-TR">
              <a:solidFill>
                <a:srgbClr val="000000"/>
              </a:solidFill>
            </a:endParaRPr>
          </a:p>
        </p:txBody>
      </p:sp>
      <p:pic>
        <p:nvPicPr>
          <p:cNvPr id="11" name="İçerik Yer Tutucusu 10" descr="metin, ekran görüntüsü, yazılım, multimedya yazılımı içeren bir resim&#10;&#10;Yapay zeka tarafından oluşturulmuş içerik yanlış olabilir.">
            <a:extLst>
              <a:ext uri="{FF2B5EF4-FFF2-40B4-BE49-F238E27FC236}">
                <a16:creationId xmlns:a16="http://schemas.microsoft.com/office/drawing/2014/main" id="{0E8E9C36-67AB-1C98-1472-5675E4DD97B7}"/>
              </a:ext>
            </a:extLst>
          </p:cNvPr>
          <p:cNvPicPr>
            <a:picLocks noGrp="1" noChangeAspect="1"/>
          </p:cNvPicPr>
          <p:nvPr>
            <p:ph idx="1"/>
          </p:nvPr>
        </p:nvPicPr>
        <p:blipFill>
          <a:blip r:embed="rId2"/>
          <a:stretch>
            <a:fillRect/>
          </a:stretch>
        </p:blipFill>
        <p:spPr>
          <a:xfrm>
            <a:off x="623420" y="2178342"/>
            <a:ext cx="5460289" cy="2713960"/>
          </a:xfrm>
          <a:prstGeom prst="rect">
            <a:avLst/>
          </a:prstGeom>
        </p:spPr>
      </p:pic>
      <p:pic>
        <p:nvPicPr>
          <p:cNvPr id="12" name="Resim 11" descr="metin, ekran görüntüsü, diyagram, astronomi içeren bir resim&#10;&#10;Yapay zeka tarafından oluşturulmuş içerik yanlış olabilir.">
            <a:extLst>
              <a:ext uri="{FF2B5EF4-FFF2-40B4-BE49-F238E27FC236}">
                <a16:creationId xmlns:a16="http://schemas.microsoft.com/office/drawing/2014/main" id="{275A59FE-3CEA-1001-B8B8-D165B6C2EF84}"/>
              </a:ext>
            </a:extLst>
          </p:cNvPr>
          <p:cNvPicPr>
            <a:picLocks noChangeAspect="1"/>
          </p:cNvPicPr>
          <p:nvPr/>
        </p:nvPicPr>
        <p:blipFill>
          <a:blip r:embed="rId3"/>
          <a:stretch>
            <a:fillRect/>
          </a:stretch>
        </p:blipFill>
        <p:spPr>
          <a:xfrm>
            <a:off x="6274592" y="2159277"/>
            <a:ext cx="5357814" cy="2729946"/>
          </a:xfrm>
          <a:prstGeom prst="rect">
            <a:avLst/>
          </a:prstGeom>
        </p:spPr>
      </p:pic>
      <p:sp>
        <p:nvSpPr>
          <p:cNvPr id="13" name="Metin kutusu 12">
            <a:extLst>
              <a:ext uri="{FF2B5EF4-FFF2-40B4-BE49-F238E27FC236}">
                <a16:creationId xmlns:a16="http://schemas.microsoft.com/office/drawing/2014/main" id="{F78D9013-3896-166D-7980-D2C4AC2C26CF}"/>
              </a:ext>
            </a:extLst>
          </p:cNvPr>
          <p:cNvSpPr txBox="1"/>
          <p:nvPr/>
        </p:nvSpPr>
        <p:spPr>
          <a:xfrm>
            <a:off x="2026802" y="4984466"/>
            <a:ext cx="869632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200"/>
              <a:t>6.1 Kullanıcı Arayüzü                            6.2 Genel Uyum Skorları</a:t>
            </a:r>
            <a:endParaRPr lang="tr-TR" sz="1200" dirty="0"/>
          </a:p>
        </p:txBody>
      </p:sp>
    </p:spTree>
    <p:extLst>
      <p:ext uri="{BB962C8B-B14F-4D97-AF65-F5344CB8AC3E}">
        <p14:creationId xmlns:p14="http://schemas.microsoft.com/office/powerpoint/2010/main" val="893159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çerik Yer Tutucusu 6" descr="metin, ekran görüntüsü, yazılım, web sayfası içeren bir resim&#10;&#10;Yapay zeka tarafından oluşturulmuş içerik yanlış olabilir.">
            <a:extLst>
              <a:ext uri="{FF2B5EF4-FFF2-40B4-BE49-F238E27FC236}">
                <a16:creationId xmlns:a16="http://schemas.microsoft.com/office/drawing/2014/main" id="{C5B2C851-0E8A-9EAC-E79E-7683A255C509}"/>
              </a:ext>
            </a:extLst>
          </p:cNvPr>
          <p:cNvPicPr>
            <a:picLocks noGrp="1" noChangeAspect="1"/>
          </p:cNvPicPr>
          <p:nvPr>
            <p:ph idx="1"/>
          </p:nvPr>
        </p:nvPicPr>
        <p:blipFill>
          <a:blip r:embed="rId2"/>
          <a:stretch>
            <a:fillRect/>
          </a:stretch>
        </p:blipFill>
        <p:spPr>
          <a:xfrm>
            <a:off x="664619" y="1293078"/>
            <a:ext cx="3108701" cy="4272978"/>
          </a:xfrm>
          <a:prstGeom prst="rect">
            <a:avLst/>
          </a:prstGeom>
        </p:spPr>
      </p:pic>
      <p:sp>
        <p:nvSpPr>
          <p:cNvPr id="3" name="Veri Yer Tutucusu 2">
            <a:extLst>
              <a:ext uri="{FF2B5EF4-FFF2-40B4-BE49-F238E27FC236}">
                <a16:creationId xmlns:a16="http://schemas.microsoft.com/office/drawing/2014/main" id="{E6F326D2-D843-DA35-29B2-934362C4952D}"/>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467BC27A-57DE-F9EE-4188-FF0FB78E8890}"/>
              </a:ext>
            </a:extLst>
          </p:cNvPr>
          <p:cNvSpPr>
            <a:spLocks noGrp="1"/>
          </p:cNvSpPr>
          <p:nvPr>
            <p:ph type="ftr" sz="quarter" idx="11"/>
          </p:nvPr>
        </p:nvSpPr>
        <p:spPr/>
        <p:txBody>
          <a:bodyPr/>
          <a:lstStyle/>
          <a:p>
            <a:r>
              <a:rPr lang="tr-TR"/>
              <a:t>Öğrenci Adı Soyadı : Azra Kaya                                                                           Öğrenci Numarası: 2112721005</a:t>
            </a:r>
          </a:p>
        </p:txBody>
      </p:sp>
      <p:sp>
        <p:nvSpPr>
          <p:cNvPr id="5" name="Slayt Numarası Yer Tutucusu 4">
            <a:extLst>
              <a:ext uri="{FF2B5EF4-FFF2-40B4-BE49-F238E27FC236}">
                <a16:creationId xmlns:a16="http://schemas.microsoft.com/office/drawing/2014/main" id="{B1FD9409-E89B-2A3B-DB43-B6228D9D7899}"/>
              </a:ext>
            </a:extLst>
          </p:cNvPr>
          <p:cNvSpPr>
            <a:spLocks noGrp="1"/>
          </p:cNvSpPr>
          <p:nvPr>
            <p:ph type="sldNum" sz="quarter" idx="12"/>
          </p:nvPr>
        </p:nvSpPr>
        <p:spPr/>
        <p:txBody>
          <a:bodyPr/>
          <a:lstStyle/>
          <a:p>
            <a:pPr algn="ctr"/>
            <a:fld id="{761DAA7D-07E7-4CC9-A173-94FF02D0AC1F}" type="slidenum">
              <a:rPr lang="tr-TR" smtClean="0"/>
              <a:pPr algn="ctr"/>
              <a:t>14</a:t>
            </a:fld>
            <a:endParaRPr lang="tr-TR"/>
          </a:p>
        </p:txBody>
      </p:sp>
      <p:pic>
        <p:nvPicPr>
          <p:cNvPr id="8" name="Resim 7" descr="metin, ekran görüntüsü, yazılım, multimedya yazılımı içeren bir resim&#10;&#10;Yapay zeka tarafından oluşturulmuş içerik yanlış olabilir.">
            <a:extLst>
              <a:ext uri="{FF2B5EF4-FFF2-40B4-BE49-F238E27FC236}">
                <a16:creationId xmlns:a16="http://schemas.microsoft.com/office/drawing/2014/main" id="{C4057200-6BEF-B5E4-3F49-0336AFBE574C}"/>
              </a:ext>
            </a:extLst>
          </p:cNvPr>
          <p:cNvPicPr>
            <a:picLocks noChangeAspect="1"/>
          </p:cNvPicPr>
          <p:nvPr/>
        </p:nvPicPr>
        <p:blipFill>
          <a:blip r:embed="rId3"/>
          <a:stretch>
            <a:fillRect/>
          </a:stretch>
        </p:blipFill>
        <p:spPr>
          <a:xfrm>
            <a:off x="4056529" y="1972349"/>
            <a:ext cx="6656294" cy="2902097"/>
          </a:xfrm>
          <a:prstGeom prst="rect">
            <a:avLst/>
          </a:prstGeom>
        </p:spPr>
      </p:pic>
      <p:sp>
        <p:nvSpPr>
          <p:cNvPr id="9" name="Metin kutusu 8">
            <a:extLst>
              <a:ext uri="{FF2B5EF4-FFF2-40B4-BE49-F238E27FC236}">
                <a16:creationId xmlns:a16="http://schemas.microsoft.com/office/drawing/2014/main" id="{ED71DDFB-5E59-F318-79E5-2A3AAFA0DBE8}"/>
              </a:ext>
            </a:extLst>
          </p:cNvPr>
          <p:cNvSpPr txBox="1"/>
          <p:nvPr/>
        </p:nvSpPr>
        <p:spPr>
          <a:xfrm>
            <a:off x="1160947" y="5571787"/>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200"/>
              <a:t>6.3 PDF Rapor Örneği</a:t>
            </a:r>
            <a:endParaRPr lang="tr-TR" sz="1200" dirty="0"/>
          </a:p>
        </p:txBody>
      </p:sp>
      <p:sp>
        <p:nvSpPr>
          <p:cNvPr id="10" name="Metin kutusu 9">
            <a:extLst>
              <a:ext uri="{FF2B5EF4-FFF2-40B4-BE49-F238E27FC236}">
                <a16:creationId xmlns:a16="http://schemas.microsoft.com/office/drawing/2014/main" id="{C0044A7B-10EC-0FE9-C39E-22EDDE5A6162}"/>
              </a:ext>
            </a:extLst>
          </p:cNvPr>
          <p:cNvSpPr txBox="1"/>
          <p:nvPr/>
        </p:nvSpPr>
        <p:spPr>
          <a:xfrm>
            <a:off x="6011932" y="4872093"/>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200"/>
              <a:t>6.4 Soru-Cevap Örneği</a:t>
            </a:r>
            <a:endParaRPr lang="tr-TR" sz="1200" dirty="0"/>
          </a:p>
        </p:txBody>
      </p:sp>
    </p:spTree>
    <p:extLst>
      <p:ext uri="{BB962C8B-B14F-4D97-AF65-F5344CB8AC3E}">
        <p14:creationId xmlns:p14="http://schemas.microsoft.com/office/powerpoint/2010/main" val="2963248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A4CF567-9101-E76C-D8A1-588EB32E0892}"/>
              </a:ext>
            </a:extLst>
          </p:cNvPr>
          <p:cNvSpPr>
            <a:spLocks noGrp="1"/>
          </p:cNvSpPr>
          <p:nvPr>
            <p:ph idx="1"/>
          </p:nvPr>
        </p:nvSpPr>
        <p:spPr/>
        <p:txBody>
          <a:bodyPr vert="horz" lIns="91440" tIns="45720" rIns="91440" bIns="45720" rtlCol="0" anchor="t">
            <a:normAutofit/>
          </a:bodyPr>
          <a:lstStyle/>
          <a:p>
            <a:pPr marL="0" indent="0" algn="just">
              <a:buNone/>
            </a:pPr>
            <a:r>
              <a:rPr lang="tr-TR" b="1">
                <a:ea typeface="+mn-lt"/>
                <a:cs typeface="+mn-lt"/>
              </a:rPr>
              <a:t>Bulgular:</a:t>
            </a:r>
          </a:p>
          <a:p>
            <a:pPr marL="0" indent="0" algn="just"/>
            <a:r>
              <a:rPr lang="tr-TR">
                <a:ea typeface="+mn-lt"/>
                <a:cs typeface="+mn-lt"/>
              </a:rPr>
              <a:t>  CVMatch AI platformu uçtan uca çalışıyor:</a:t>
            </a:r>
            <a:endParaRPr lang="tr-TR"/>
          </a:p>
          <a:p>
            <a:pPr marL="800100" lvl="1" algn="just">
              <a:buFont typeface="Courier New" charset="2"/>
              <a:buChar char="o"/>
            </a:pPr>
            <a:r>
              <a:rPr lang="tr-TR" sz="1800">
                <a:ea typeface="+mn-lt"/>
                <a:cs typeface="+mn-lt"/>
              </a:rPr>
              <a:t>Özgeçmiş yükleme ve yeniden analiz</a:t>
            </a:r>
            <a:endParaRPr lang="tr-TR" sz="1800"/>
          </a:p>
          <a:p>
            <a:pPr marL="800100" lvl="1" algn="just">
              <a:buFont typeface="Courier New" charset="2"/>
              <a:buChar char="o"/>
            </a:pPr>
            <a:r>
              <a:rPr lang="tr-TR" sz="1800">
                <a:ea typeface="+mn-lt"/>
                <a:cs typeface="+mn-lt"/>
              </a:rPr>
              <a:t>İş ilanı oluşturma</a:t>
            </a:r>
            <a:endParaRPr lang="tr-TR" sz="1800"/>
          </a:p>
          <a:p>
            <a:pPr marL="800100" lvl="1" algn="just">
              <a:buFont typeface="Courier New" charset="2"/>
              <a:buChar char="o"/>
            </a:pPr>
            <a:r>
              <a:rPr lang="tr-TR" sz="1800">
                <a:ea typeface="+mn-lt"/>
                <a:cs typeface="+mn-lt"/>
              </a:rPr>
              <a:t>Tekil ve çoklu eşleştirme</a:t>
            </a:r>
            <a:endParaRPr lang="tr-TR" sz="1800"/>
          </a:p>
          <a:p>
            <a:pPr marL="800100" lvl="1" algn="just">
              <a:buFont typeface="Courier New" charset="2"/>
              <a:buChar char="o"/>
            </a:pPr>
            <a:r>
              <a:rPr lang="tr-TR" sz="1800">
                <a:ea typeface="+mn-lt"/>
                <a:cs typeface="+mn-lt"/>
              </a:rPr>
              <a:t>Eşleştirme geçmişi görüntüleme</a:t>
            </a:r>
            <a:endParaRPr lang="tr-TR" sz="1800"/>
          </a:p>
          <a:p>
            <a:pPr marL="800100" lvl="1" algn="just">
              <a:buFont typeface="Courier New" charset="2"/>
              <a:buChar char="o"/>
            </a:pPr>
            <a:r>
              <a:rPr lang="tr-TR" sz="1800">
                <a:ea typeface="+mn-lt"/>
                <a:cs typeface="+mn-lt"/>
              </a:rPr>
              <a:t>PDF rapor dışa aktarımı</a:t>
            </a:r>
            <a:endParaRPr lang="tr-TR" sz="1800"/>
          </a:p>
          <a:p>
            <a:pPr marL="800100" lvl="1" algn="just">
              <a:buFont typeface="Courier New" charset="2"/>
              <a:buChar char="o"/>
            </a:pPr>
            <a:r>
              <a:rPr lang="tr-TR" sz="1800">
                <a:ea typeface="+mn-lt"/>
                <a:cs typeface="+mn-lt"/>
              </a:rPr>
              <a:t>RAG modülü ile doğal dilde soru–cevap</a:t>
            </a:r>
            <a:endParaRPr lang="tr-TR" sz="1800"/>
          </a:p>
          <a:p>
            <a:pPr algn="just"/>
            <a:r>
              <a:rPr lang="tr-TR">
                <a:ea typeface="+mn-lt"/>
                <a:cs typeface="+mn-lt"/>
              </a:rPr>
              <a:t>Sistem, beceri, deneyim, eğitim ve dil boyutlarında alt skorlar, genel uyum skoru, eşleşen/eksik beceriler ve öneri metinleri üretti.</a:t>
            </a:r>
            <a:endParaRPr lang="tr-TR"/>
          </a:p>
        </p:txBody>
      </p:sp>
      <p:sp>
        <p:nvSpPr>
          <p:cNvPr id="3" name="Veri Yer Tutucusu 2">
            <a:extLst>
              <a:ext uri="{FF2B5EF4-FFF2-40B4-BE49-F238E27FC236}">
                <a16:creationId xmlns:a16="http://schemas.microsoft.com/office/drawing/2014/main" id="{6DE1493C-4C78-4F9B-54AF-9648BC2AF217}"/>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C9CC4C7B-6618-2BD0-8450-40C380FCB129}"/>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8CC6BCAF-414C-E8D1-9351-6F1F93FE832F}"/>
              </a:ext>
            </a:extLst>
          </p:cNvPr>
          <p:cNvSpPr>
            <a:spLocks noGrp="1"/>
          </p:cNvSpPr>
          <p:nvPr>
            <p:ph type="sldNum" sz="quarter" idx="12"/>
          </p:nvPr>
        </p:nvSpPr>
        <p:spPr/>
        <p:txBody>
          <a:bodyPr/>
          <a:lstStyle/>
          <a:p>
            <a:pPr algn="ctr"/>
            <a:fld id="{761DAA7D-07E7-4CC9-A173-94FF02D0AC1F}" type="slidenum">
              <a:rPr lang="tr-TR" smtClean="0"/>
              <a:pPr algn="ctr"/>
              <a:t>15</a:t>
            </a:fld>
            <a:endParaRPr lang="tr-TR"/>
          </a:p>
        </p:txBody>
      </p:sp>
      <p:sp>
        <p:nvSpPr>
          <p:cNvPr id="6" name="Başlık 5">
            <a:extLst>
              <a:ext uri="{FF2B5EF4-FFF2-40B4-BE49-F238E27FC236}">
                <a16:creationId xmlns:a16="http://schemas.microsoft.com/office/drawing/2014/main" id="{6535320A-19D6-68CA-7403-00616F5E3E5E}"/>
              </a:ext>
            </a:extLst>
          </p:cNvPr>
          <p:cNvSpPr>
            <a:spLocks noGrp="1"/>
          </p:cNvSpPr>
          <p:nvPr>
            <p:ph type="title"/>
          </p:nvPr>
        </p:nvSpPr>
        <p:spPr/>
        <p:txBody>
          <a:bodyPr/>
          <a:lstStyle/>
          <a:p>
            <a:endParaRPr lang="tr-TR" dirty="0"/>
          </a:p>
        </p:txBody>
      </p:sp>
    </p:spTree>
    <p:extLst>
      <p:ext uri="{BB962C8B-B14F-4D97-AF65-F5344CB8AC3E}">
        <p14:creationId xmlns:p14="http://schemas.microsoft.com/office/powerpoint/2010/main" val="369540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74128EB-C3EA-C3C0-E24D-904DB384DE09}"/>
              </a:ext>
            </a:extLst>
          </p:cNvPr>
          <p:cNvSpPr>
            <a:spLocks noGrp="1"/>
          </p:cNvSpPr>
          <p:nvPr>
            <p:ph idx="1"/>
          </p:nvPr>
        </p:nvSpPr>
        <p:spPr/>
        <p:txBody>
          <a:bodyPr vert="horz" lIns="91440" tIns="45720" rIns="91440" bIns="45720" rtlCol="0" anchor="t">
            <a:normAutofit/>
          </a:bodyPr>
          <a:lstStyle/>
          <a:p>
            <a:pPr marL="0" indent="0"/>
            <a:r>
              <a:rPr lang="tr-TR">
                <a:ea typeface="+mn-lt"/>
                <a:cs typeface="+mn-lt"/>
              </a:rPr>
              <a:t>   Karmaşık PDF’lerde, okuma sırasının düzeltilmesi metin akışını iyileştirdi.</a:t>
            </a:r>
            <a:endParaRPr lang="tr-TR"/>
          </a:p>
          <a:p>
            <a:r>
              <a:rPr lang="tr-TR">
                <a:ea typeface="+mn-lt"/>
                <a:cs typeface="+mn-lt"/>
              </a:rPr>
              <a:t>Çok sektörlü beceri sözlüğü sayesinde, farklı alanlara ait ilanlar anlamlı şekilde işlendi.</a:t>
            </a:r>
            <a:endParaRPr lang="tr-TR"/>
          </a:p>
          <a:p>
            <a:r>
              <a:rPr lang="tr-TR">
                <a:ea typeface="+mn-lt"/>
                <a:cs typeface="+mn-lt"/>
              </a:rPr>
              <a:t>Yapay zekâ destekli eşleştirme, aynı becerinin farklı ifadelerinde kural tabanlı yöntemden daha duyarlı sonuç verdi.</a:t>
            </a:r>
            <a:endParaRPr lang="tr-TR"/>
          </a:p>
          <a:p>
            <a:r>
              <a:rPr lang="tr-TR">
                <a:ea typeface="+mn-lt"/>
                <a:cs typeface="+mn-lt"/>
              </a:rPr>
              <a:t>RAG bileşeninde:</a:t>
            </a:r>
            <a:endParaRPr lang="tr-TR"/>
          </a:p>
          <a:p>
            <a:pPr marL="800100" lvl="1">
              <a:buFont typeface="Courier New" charset="2"/>
              <a:buChar char="o"/>
            </a:pPr>
            <a:r>
              <a:rPr lang="tr-TR" sz="1800">
                <a:ea typeface="+mn-lt"/>
                <a:cs typeface="+mn-lt"/>
              </a:rPr>
              <a:t>Soru türüne göre ya yapılandırılmış veri doğrudan kullanıldı.</a:t>
            </a:r>
            <a:endParaRPr lang="tr-TR" sz="1800"/>
          </a:p>
          <a:p>
            <a:pPr marL="800100" lvl="1">
              <a:buFont typeface="Courier New" charset="2"/>
              <a:buChar char="o"/>
            </a:pPr>
            <a:r>
              <a:rPr lang="tr-TR" sz="1800">
                <a:ea typeface="+mn-lt"/>
                <a:cs typeface="+mn-lt"/>
              </a:rPr>
              <a:t>Ya da ilgili metin parçaları seçilerek kısa yanıt üretildi.</a:t>
            </a:r>
            <a:endParaRPr lang="tr-TR" sz="1800"/>
          </a:p>
          <a:p>
            <a:pPr marL="800100" lvl="1">
              <a:buFont typeface="Courier New" charset="2"/>
              <a:buChar char="o"/>
            </a:pPr>
            <a:r>
              <a:rPr lang="tr-TR" sz="1800">
                <a:ea typeface="+mn-lt"/>
                <a:cs typeface="+mn-lt"/>
              </a:rPr>
              <a:t>Yapılandırılmış veriye dayalı senaryolarda yanıtlar daha tutarlı bulundu.</a:t>
            </a:r>
            <a:endParaRPr lang="tr-TR" sz="1800"/>
          </a:p>
        </p:txBody>
      </p:sp>
      <p:sp>
        <p:nvSpPr>
          <p:cNvPr id="3" name="Veri Yer Tutucusu 2">
            <a:extLst>
              <a:ext uri="{FF2B5EF4-FFF2-40B4-BE49-F238E27FC236}">
                <a16:creationId xmlns:a16="http://schemas.microsoft.com/office/drawing/2014/main" id="{D7A95989-FECE-B15A-400B-AD5FEE37285C}"/>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87AE9988-E008-A1B3-9E12-0CBD7151BF82}"/>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5487FEF3-EDBE-2475-379C-D9000F333537}"/>
              </a:ext>
            </a:extLst>
          </p:cNvPr>
          <p:cNvSpPr>
            <a:spLocks noGrp="1"/>
          </p:cNvSpPr>
          <p:nvPr>
            <p:ph type="sldNum" sz="quarter" idx="12"/>
          </p:nvPr>
        </p:nvSpPr>
        <p:spPr/>
        <p:txBody>
          <a:bodyPr/>
          <a:lstStyle/>
          <a:p>
            <a:pPr algn="ctr"/>
            <a:fld id="{761DAA7D-07E7-4CC9-A173-94FF02D0AC1F}" type="slidenum">
              <a:rPr lang="tr-TR" smtClean="0"/>
              <a:pPr algn="ctr"/>
              <a:t>16</a:t>
            </a:fld>
            <a:endParaRPr lang="tr-TR"/>
          </a:p>
        </p:txBody>
      </p:sp>
      <p:sp>
        <p:nvSpPr>
          <p:cNvPr id="6" name="Başlık 5">
            <a:extLst>
              <a:ext uri="{FF2B5EF4-FFF2-40B4-BE49-F238E27FC236}">
                <a16:creationId xmlns:a16="http://schemas.microsoft.com/office/drawing/2014/main" id="{331BCAB4-90B8-DE0C-B102-98B09CB239E7}"/>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847724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10DFF07-33BE-B9B4-D4FC-2D667AE549B9}"/>
              </a:ext>
            </a:extLst>
          </p:cNvPr>
          <p:cNvSpPr>
            <a:spLocks noGrp="1"/>
          </p:cNvSpPr>
          <p:nvPr>
            <p:ph idx="1"/>
          </p:nvPr>
        </p:nvSpPr>
        <p:spPr>
          <a:xfrm>
            <a:off x="626856" y="1853372"/>
            <a:ext cx="8921638" cy="4777241"/>
          </a:xfrm>
        </p:spPr>
        <p:txBody>
          <a:bodyPr vert="horz" lIns="91440" tIns="45720" rIns="91440" bIns="45720" rtlCol="0" anchor="t">
            <a:normAutofit lnSpcReduction="10000"/>
          </a:bodyPr>
          <a:lstStyle/>
          <a:p>
            <a:r>
              <a:rPr lang="tr-TR" b="1"/>
              <a:t>Tartışma ve Literatürle Karşılaştırma:</a:t>
            </a:r>
          </a:p>
          <a:p>
            <a:pPr marL="457200" lvl="1" indent="0">
              <a:buFont typeface="Courier New" charset="2"/>
              <a:buChar char="o"/>
            </a:pPr>
            <a:r>
              <a:rPr lang="tr-TR" sz="1800">
                <a:ea typeface="+mn-lt"/>
                <a:cs typeface="+mn-lt"/>
              </a:rPr>
              <a:t>   Literatürde, aday–pozisyon eşleştirme kural tabanlıdan derin öğrenme tabanlı modellere evrilmiştir.</a:t>
            </a:r>
            <a:endParaRPr lang="tr-TR" sz="1800"/>
          </a:p>
          <a:p>
            <a:pPr marL="800100" lvl="1" indent="-342900">
              <a:buFont typeface="Courier New" charset="2"/>
              <a:buChar char="o"/>
            </a:pPr>
            <a:r>
              <a:rPr lang="tr-TR" sz="1800">
                <a:ea typeface="+mn-lt"/>
                <a:cs typeface="+mn-lt"/>
              </a:rPr>
              <a:t>Bu çalışmanın bulguları:</a:t>
            </a:r>
            <a:endParaRPr lang="tr-TR" sz="1800"/>
          </a:p>
          <a:p>
            <a:pPr marL="1257300" lvl="2" indent="-285750">
              <a:buFont typeface="Wingdings" charset="2"/>
              <a:buChar char="§"/>
            </a:pPr>
            <a:r>
              <a:rPr lang="tr-TR" sz="1800">
                <a:ea typeface="+mn-lt"/>
                <a:cs typeface="+mn-lt"/>
              </a:rPr>
              <a:t>Ön işleme ihtiyacı</a:t>
            </a:r>
            <a:endParaRPr lang="tr-TR" sz="1800"/>
          </a:p>
          <a:p>
            <a:pPr marL="1257300" lvl="2" indent="-285750">
              <a:buFont typeface="Wingdings" charset="2"/>
              <a:buChar char="§"/>
            </a:pPr>
            <a:r>
              <a:rPr lang="tr-TR" sz="1800">
                <a:ea typeface="+mn-lt"/>
                <a:cs typeface="+mn-lt"/>
              </a:rPr>
              <a:t>Gömü tabanlı benzerliklerin etkinliği</a:t>
            </a:r>
            <a:endParaRPr lang="tr-TR" sz="1800"/>
          </a:p>
          <a:p>
            <a:pPr marL="1257300" lvl="2" indent="-285750">
              <a:buFont typeface="Wingdings" charset="2"/>
              <a:buChar char="§"/>
            </a:pPr>
            <a:r>
              <a:rPr lang="tr-TR" sz="1800">
                <a:ea typeface="+mn-lt"/>
                <a:cs typeface="+mn-lt"/>
              </a:rPr>
              <a:t>RAG kullanımının bilgi yoğun senaryolarda uygunluğuile literatürle uyumludur.</a:t>
            </a:r>
            <a:endParaRPr lang="tr-TR" sz="1800"/>
          </a:p>
          <a:p>
            <a:pPr marL="800100" lvl="1" indent="-342900">
              <a:buFont typeface="Courier New" charset="2"/>
              <a:buChar char="o"/>
            </a:pPr>
            <a:r>
              <a:rPr lang="tr-TR" sz="1800">
                <a:ea typeface="+mn-lt"/>
                <a:cs typeface="+mn-lt"/>
              </a:rPr>
              <a:t>Farklılıklar:</a:t>
            </a:r>
            <a:endParaRPr lang="tr-TR" sz="1800"/>
          </a:p>
          <a:p>
            <a:pPr marL="1257300" lvl="2" indent="-285750">
              <a:buFont typeface="Wingdings" charset="2"/>
              <a:buChar char="§"/>
            </a:pPr>
            <a:r>
              <a:rPr lang="tr-TR" sz="1800">
                <a:ea typeface="+mn-lt"/>
                <a:cs typeface="+mn-lt"/>
              </a:rPr>
              <a:t>Türkçe içerik ve çok sektörlü beceri kapsamı</a:t>
            </a:r>
            <a:endParaRPr lang="tr-TR" sz="1800"/>
          </a:p>
          <a:p>
            <a:pPr marL="1257300" lvl="2" indent="-285750">
              <a:buFont typeface="Wingdings" charset="2"/>
              <a:buChar char="§"/>
            </a:pPr>
            <a:r>
              <a:rPr lang="tr-TR" sz="1800">
                <a:ea typeface="+mn-lt"/>
                <a:cs typeface="+mn-lt"/>
              </a:rPr>
              <a:t>Alt skorların ayrı ayrı sunulması → açıklanabilirliği artırıyor</a:t>
            </a:r>
            <a:endParaRPr lang="tr-TR" sz="1800"/>
          </a:p>
          <a:p>
            <a:pPr marL="1257300" lvl="2" indent="-285750">
              <a:buFont typeface="Wingdings" charset="2"/>
              <a:buChar char="§"/>
            </a:pPr>
            <a:r>
              <a:rPr lang="tr-TR" sz="1800">
                <a:ea typeface="+mn-lt"/>
                <a:cs typeface="+mn-lt"/>
              </a:rPr>
              <a:t>Hibrit yaklaşım, farklı ifadelerle tanımlanmış becerilerde esnek eşleşme sağlıyor.</a:t>
            </a:r>
            <a:endParaRPr lang="tr-TR" sz="1800"/>
          </a:p>
        </p:txBody>
      </p:sp>
      <p:sp>
        <p:nvSpPr>
          <p:cNvPr id="3" name="Veri Yer Tutucusu 2">
            <a:extLst>
              <a:ext uri="{FF2B5EF4-FFF2-40B4-BE49-F238E27FC236}">
                <a16:creationId xmlns:a16="http://schemas.microsoft.com/office/drawing/2014/main" id="{076D5346-360C-974F-0BAA-F5DC998A2DA1}"/>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5C9B5AEB-FC46-30BC-A3BC-4FC759E24762}"/>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A9B9D0D4-C3E4-E0C9-2FD6-164F4347C1A6}"/>
              </a:ext>
            </a:extLst>
          </p:cNvPr>
          <p:cNvSpPr>
            <a:spLocks noGrp="1"/>
          </p:cNvSpPr>
          <p:nvPr>
            <p:ph type="sldNum" sz="quarter" idx="12"/>
          </p:nvPr>
        </p:nvSpPr>
        <p:spPr/>
        <p:txBody>
          <a:bodyPr/>
          <a:lstStyle/>
          <a:p>
            <a:pPr algn="ctr"/>
            <a:fld id="{761DAA7D-07E7-4CC9-A173-94FF02D0AC1F}" type="slidenum">
              <a:rPr lang="tr-TR" smtClean="0"/>
              <a:pPr algn="ctr"/>
              <a:t>17</a:t>
            </a:fld>
            <a:endParaRPr lang="tr-TR"/>
          </a:p>
        </p:txBody>
      </p:sp>
      <p:sp>
        <p:nvSpPr>
          <p:cNvPr id="6" name="Başlık 5">
            <a:extLst>
              <a:ext uri="{FF2B5EF4-FFF2-40B4-BE49-F238E27FC236}">
                <a16:creationId xmlns:a16="http://schemas.microsoft.com/office/drawing/2014/main" id="{D68339FC-B0C1-A661-39BE-AF2F3ADEEF3A}"/>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4165039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0232703-AFB4-59D8-15A5-D664EBBA285A}"/>
              </a:ext>
            </a:extLst>
          </p:cNvPr>
          <p:cNvSpPr>
            <a:spLocks noGrp="1"/>
          </p:cNvSpPr>
          <p:nvPr>
            <p:ph idx="1"/>
          </p:nvPr>
        </p:nvSpPr>
        <p:spPr/>
        <p:txBody>
          <a:bodyPr vert="horz" lIns="91440" tIns="45720" rIns="91440" bIns="45720" rtlCol="0" anchor="t">
            <a:normAutofit/>
          </a:bodyPr>
          <a:lstStyle/>
          <a:p>
            <a:pPr marL="0" indent="0"/>
            <a:r>
              <a:rPr lang="tr-TR">
                <a:ea typeface="+mn-lt"/>
                <a:cs typeface="+mn-lt"/>
              </a:rPr>
              <a:t>  Sınırlılıklar:</a:t>
            </a:r>
            <a:endParaRPr lang="tr-TR"/>
          </a:p>
          <a:p>
            <a:pPr marL="800100" lvl="1" indent="-342900">
              <a:buFont typeface="Courier New" charset="2"/>
              <a:buChar char="o"/>
            </a:pPr>
            <a:r>
              <a:rPr lang="tr-TR" sz="1800">
                <a:ea typeface="+mn-lt"/>
                <a:cs typeface="+mn-lt"/>
              </a:rPr>
              <a:t>Geniş ölçekli, etiketli veri ile nicel performans ölçümleri yapılmadı</a:t>
            </a:r>
            <a:endParaRPr lang="tr-TR" sz="1800"/>
          </a:p>
          <a:p>
            <a:pPr marL="800100" lvl="1" indent="-342900">
              <a:buFont typeface="Courier New" charset="2"/>
              <a:buChar char="o"/>
            </a:pPr>
            <a:r>
              <a:rPr lang="tr-TR" sz="1800">
                <a:ea typeface="+mn-lt"/>
                <a:cs typeface="+mn-lt"/>
              </a:rPr>
              <a:t>Bu durum, genellenebilirlik ve literatür karşılaştırmasını sınırlıyor</a:t>
            </a:r>
            <a:endParaRPr lang="tr-TR" sz="1800"/>
          </a:p>
          <a:p>
            <a:r>
              <a:rPr lang="tr-TR">
                <a:ea typeface="+mn-lt"/>
                <a:cs typeface="+mn-lt"/>
              </a:rPr>
              <a:t>Sonuç:</a:t>
            </a:r>
            <a:endParaRPr lang="tr-TR"/>
          </a:p>
          <a:p>
            <a:pPr marL="800100" lvl="1" indent="-342900">
              <a:buFont typeface="Courier New" charset="2"/>
              <a:buChar char="o"/>
            </a:pPr>
            <a:r>
              <a:rPr lang="tr-TR" sz="1800">
                <a:ea typeface="+mn-lt"/>
                <a:cs typeface="+mn-lt"/>
              </a:rPr>
              <a:t>Uçtan uca, açıklanabilir ve çok boyutlu karar destek sistemi</a:t>
            </a:r>
            <a:endParaRPr lang="tr-TR" sz="1800"/>
          </a:p>
          <a:p>
            <a:pPr marL="800100" lvl="1" indent="-342900">
              <a:buFont typeface="Courier New" charset="2"/>
              <a:buChar char="o"/>
            </a:pPr>
            <a:r>
              <a:rPr lang="tr-TR" sz="1800">
                <a:ea typeface="+mn-lt"/>
                <a:cs typeface="+mn-lt"/>
              </a:rPr>
              <a:t>Türkçe işe alım metinleri bağlamında uygulamaya dönük özgün katkı</a:t>
            </a:r>
            <a:endParaRPr lang="tr-TR" sz="1800"/>
          </a:p>
        </p:txBody>
      </p:sp>
      <p:sp>
        <p:nvSpPr>
          <p:cNvPr id="3" name="Veri Yer Tutucusu 2">
            <a:extLst>
              <a:ext uri="{FF2B5EF4-FFF2-40B4-BE49-F238E27FC236}">
                <a16:creationId xmlns:a16="http://schemas.microsoft.com/office/drawing/2014/main" id="{E21F0A2D-D197-9263-8FCD-1163F10F2345}"/>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70964D24-C89C-0D58-62BA-98DD350E3A08}"/>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66A99806-D845-8B4C-5C4A-8423749C5991}"/>
              </a:ext>
            </a:extLst>
          </p:cNvPr>
          <p:cNvSpPr>
            <a:spLocks noGrp="1"/>
          </p:cNvSpPr>
          <p:nvPr>
            <p:ph type="sldNum" sz="quarter" idx="12"/>
          </p:nvPr>
        </p:nvSpPr>
        <p:spPr/>
        <p:txBody>
          <a:bodyPr/>
          <a:lstStyle/>
          <a:p>
            <a:pPr algn="ctr"/>
            <a:fld id="{761DAA7D-07E7-4CC9-A173-94FF02D0AC1F}" type="slidenum">
              <a:rPr lang="tr-TR" smtClean="0"/>
              <a:pPr algn="ctr"/>
              <a:t>18</a:t>
            </a:fld>
            <a:endParaRPr lang="tr-TR"/>
          </a:p>
        </p:txBody>
      </p:sp>
      <p:sp>
        <p:nvSpPr>
          <p:cNvPr id="6" name="Başlık 5">
            <a:extLst>
              <a:ext uri="{FF2B5EF4-FFF2-40B4-BE49-F238E27FC236}">
                <a16:creationId xmlns:a16="http://schemas.microsoft.com/office/drawing/2014/main" id="{87A85FE1-E04A-25F6-C966-5B7417C179E1}"/>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580901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A4CF567-9101-E76C-D8A1-588EB32E0892}"/>
              </a:ext>
            </a:extLst>
          </p:cNvPr>
          <p:cNvSpPr>
            <a:spLocks noGrp="1"/>
          </p:cNvSpPr>
          <p:nvPr>
            <p:ph idx="1"/>
          </p:nvPr>
        </p:nvSpPr>
        <p:spPr>
          <a:xfrm>
            <a:off x="626856" y="2178342"/>
            <a:ext cx="8596668" cy="4047460"/>
          </a:xfrm>
        </p:spPr>
        <p:txBody>
          <a:bodyPr vert="horz" lIns="91440" tIns="45720" rIns="91440" bIns="45720" rtlCol="0" anchor="t">
            <a:normAutofit/>
          </a:bodyPr>
          <a:lstStyle/>
          <a:p>
            <a:pPr algn="just"/>
            <a:r>
              <a:rPr lang="tr-TR">
                <a:ea typeface="+mn-lt"/>
                <a:cs typeface="+mn-lt"/>
              </a:rPr>
              <a:t>CVMatch AI platformu geliştirilmiş ve işlevsel olarak doğrulanmıştır.</a:t>
            </a:r>
          </a:p>
          <a:p>
            <a:pPr algn="just"/>
            <a:r>
              <a:rPr lang="tr-TR">
                <a:ea typeface="+mn-lt"/>
                <a:cs typeface="+mn-lt"/>
              </a:rPr>
              <a:t>Platform, uçtan uca şu işlevleri içerir:</a:t>
            </a:r>
            <a:endParaRPr lang="tr-TR"/>
          </a:p>
          <a:p>
            <a:pPr marL="800100" lvl="1" indent="-342900" algn="just">
              <a:buFont typeface="Courier New" charset="2"/>
              <a:buChar char="o"/>
            </a:pPr>
            <a:r>
              <a:rPr lang="tr-TR" sz="1800">
                <a:ea typeface="+mn-lt"/>
                <a:cs typeface="+mn-lt"/>
              </a:rPr>
              <a:t>PDF özgeçmişlerden yapılandırılmış aday bilgisi çıkarımı</a:t>
            </a:r>
            <a:endParaRPr lang="tr-TR" sz="1800"/>
          </a:p>
          <a:p>
            <a:pPr marL="800100" lvl="1" indent="-342900" algn="just">
              <a:buFont typeface="Courier New" charset="2"/>
              <a:buChar char="o"/>
            </a:pPr>
            <a:r>
              <a:rPr lang="tr-TR" sz="1800">
                <a:ea typeface="+mn-lt"/>
                <a:cs typeface="+mn-lt"/>
              </a:rPr>
              <a:t>İş ilanlarından pozisyon gereksinimlerinin yapılandırılması</a:t>
            </a:r>
          </a:p>
          <a:p>
            <a:pPr marL="800100" lvl="1" indent="-342900" algn="just">
              <a:buFont typeface="Courier New" charset="2"/>
              <a:buChar char="o"/>
            </a:pPr>
            <a:r>
              <a:rPr lang="tr-TR" sz="1800">
                <a:ea typeface="+mn-lt"/>
                <a:cs typeface="+mn-lt"/>
              </a:rPr>
              <a:t>Alt skorlar (beceri, deneyim, eğitim, dil) ve genel uyum skoru üretimi</a:t>
            </a:r>
            <a:endParaRPr lang="tr-TR" sz="1800"/>
          </a:p>
          <a:p>
            <a:pPr marL="800100" lvl="1" indent="-342900" algn="just">
              <a:buFont typeface="Courier New" charset="2"/>
              <a:buChar char="o"/>
            </a:pPr>
            <a:r>
              <a:rPr lang="tr-TR" sz="1800">
                <a:ea typeface="+mn-lt"/>
                <a:cs typeface="+mn-lt"/>
              </a:rPr>
              <a:t>Eksik alanlar için öneri sunulması</a:t>
            </a:r>
          </a:p>
          <a:p>
            <a:pPr marL="800100" lvl="1" indent="-342900" algn="just">
              <a:buFont typeface="Courier New" charset="2"/>
              <a:buChar char="o"/>
            </a:pPr>
            <a:r>
              <a:rPr lang="tr-TR" sz="1800">
                <a:ea typeface="+mn-lt"/>
                <a:cs typeface="+mn-lt"/>
              </a:rPr>
              <a:t>Yapay zekâ destekli anlamsal eşleştirme</a:t>
            </a:r>
          </a:p>
          <a:p>
            <a:pPr marL="800100" lvl="1" indent="-342900" algn="just">
              <a:buFont typeface="Courier New" charset="2"/>
              <a:buChar char="o"/>
            </a:pPr>
            <a:r>
              <a:rPr lang="tr-TR" sz="1800">
                <a:ea typeface="+mn-lt"/>
                <a:cs typeface="+mn-lt"/>
              </a:rPr>
              <a:t>PDF rapor üretimi</a:t>
            </a:r>
            <a:endParaRPr lang="tr-TR" sz="1800"/>
          </a:p>
          <a:p>
            <a:pPr marL="800100" lvl="1" indent="-342900" algn="just">
              <a:buFont typeface="Courier New" charset="2"/>
              <a:buChar char="o"/>
            </a:pPr>
            <a:r>
              <a:rPr lang="tr-TR" sz="1800">
                <a:ea typeface="+mn-lt"/>
                <a:cs typeface="+mn-lt"/>
              </a:rPr>
              <a:t>Çoklu özgeçmiş karşılaştırması</a:t>
            </a:r>
          </a:p>
          <a:p>
            <a:pPr marL="800100" lvl="1" indent="-342900" algn="just">
              <a:buFont typeface="Courier New" charset="2"/>
              <a:buChar char="o"/>
            </a:pPr>
            <a:r>
              <a:rPr lang="tr-TR" sz="1800">
                <a:ea typeface="+mn-lt"/>
                <a:cs typeface="+mn-lt"/>
              </a:rPr>
              <a:t>RAG tabanlı soru–cevap</a:t>
            </a:r>
          </a:p>
        </p:txBody>
      </p:sp>
      <p:sp>
        <p:nvSpPr>
          <p:cNvPr id="3" name="Veri Yer Tutucusu 2">
            <a:extLst>
              <a:ext uri="{FF2B5EF4-FFF2-40B4-BE49-F238E27FC236}">
                <a16:creationId xmlns:a16="http://schemas.microsoft.com/office/drawing/2014/main" id="{6DE1493C-4C78-4F9B-54AF-9648BC2AF217}"/>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C9CC4C7B-6618-2BD0-8450-40C380FCB129}"/>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8CC6BCAF-414C-E8D1-9351-6F1F93FE832F}"/>
              </a:ext>
            </a:extLst>
          </p:cNvPr>
          <p:cNvSpPr>
            <a:spLocks noGrp="1"/>
          </p:cNvSpPr>
          <p:nvPr>
            <p:ph type="sldNum" sz="quarter" idx="12"/>
          </p:nvPr>
        </p:nvSpPr>
        <p:spPr/>
        <p:txBody>
          <a:bodyPr/>
          <a:lstStyle/>
          <a:p>
            <a:pPr algn="ctr"/>
            <a:fld id="{761DAA7D-07E7-4CC9-A173-94FF02D0AC1F}" type="slidenum">
              <a:rPr lang="tr-TR" smtClean="0"/>
              <a:pPr algn="ctr"/>
              <a:t>19</a:t>
            </a:fld>
            <a:endParaRPr lang="tr-TR"/>
          </a:p>
        </p:txBody>
      </p:sp>
      <p:sp>
        <p:nvSpPr>
          <p:cNvPr id="6" name="Başlık 5">
            <a:extLst>
              <a:ext uri="{FF2B5EF4-FFF2-40B4-BE49-F238E27FC236}">
                <a16:creationId xmlns:a16="http://schemas.microsoft.com/office/drawing/2014/main" id="{6535320A-19D6-68CA-7403-00616F5E3E5E}"/>
              </a:ext>
            </a:extLst>
          </p:cNvPr>
          <p:cNvSpPr>
            <a:spLocks noGrp="1"/>
          </p:cNvSpPr>
          <p:nvPr>
            <p:ph type="title"/>
          </p:nvPr>
        </p:nvSpPr>
        <p:spPr/>
        <p:txBody>
          <a:bodyPr/>
          <a:lstStyle/>
          <a:p>
            <a:r>
              <a:rPr lang="tr-TR"/>
              <a:t>7. Sonuç :</a:t>
            </a:r>
          </a:p>
        </p:txBody>
      </p:sp>
    </p:spTree>
    <p:extLst>
      <p:ext uri="{BB962C8B-B14F-4D97-AF65-F5344CB8AC3E}">
        <p14:creationId xmlns:p14="http://schemas.microsoft.com/office/powerpoint/2010/main" val="516177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DC0E70E-E019-45E3-6EDF-CF8DE6DB4FD9}"/>
              </a:ext>
            </a:extLst>
          </p:cNvPr>
          <p:cNvSpPr>
            <a:spLocks noGrp="1"/>
          </p:cNvSpPr>
          <p:nvPr>
            <p:ph idx="1"/>
          </p:nvPr>
        </p:nvSpPr>
        <p:spPr/>
        <p:txBody>
          <a:bodyPr vert="horz" lIns="91440" tIns="45720" rIns="91440" bIns="45720" rtlCol="0" anchor="t">
            <a:normAutofit/>
          </a:bodyPr>
          <a:lstStyle/>
          <a:p>
            <a:r>
              <a:rPr lang="tr-TR"/>
              <a:t>Bulgular gösteriyor ki:</a:t>
            </a:r>
          </a:p>
          <a:p>
            <a:pPr marL="800100" lvl="1"/>
            <a:r>
              <a:rPr lang="tr-TR" sz="1800">
                <a:ea typeface="+mn-lt"/>
                <a:cs typeface="+mn-lt"/>
              </a:rPr>
              <a:t>Hibrit yaklaşım, kural tabanlı ve gömü tabanlı yöntemleri birleştirerek açıklanabilirlik ve esneklik arasında denge sağlıyor. </a:t>
            </a:r>
          </a:p>
          <a:p>
            <a:pPr marL="800100" lvl="1"/>
            <a:r>
              <a:rPr lang="tr-TR" sz="1800">
                <a:ea typeface="+mn-lt"/>
                <a:cs typeface="+mn-lt"/>
              </a:rPr>
              <a:t>Çok boyutlu alt skorlar, karar süreçlerinde şeffaflık sağlıyor.</a:t>
            </a:r>
            <a:endParaRPr lang="tr-TR" sz="1800"/>
          </a:p>
          <a:p>
            <a:r>
              <a:rPr lang="tr-TR">
                <a:ea typeface="+mn-lt"/>
                <a:cs typeface="+mn-lt"/>
              </a:rPr>
              <a:t>Gelecek öneriler:</a:t>
            </a:r>
            <a:endParaRPr lang="tr-TR" dirty="0">
              <a:ea typeface="+mn-lt"/>
              <a:cs typeface="+mn-lt"/>
            </a:endParaRPr>
          </a:p>
          <a:p>
            <a:pPr marL="800100" lvl="1"/>
            <a:r>
              <a:rPr lang="tr-TR" sz="1800">
                <a:ea typeface="+mn-lt"/>
                <a:cs typeface="+mn-lt"/>
              </a:rPr>
              <a:t>Daha geniş veri kümeleri ile nicel değerlendirme </a:t>
            </a:r>
          </a:p>
          <a:p>
            <a:pPr marL="800100" lvl="1"/>
            <a:r>
              <a:rPr lang="tr-TR" sz="1800">
                <a:ea typeface="+mn-lt"/>
                <a:cs typeface="+mn-lt"/>
              </a:rPr>
              <a:t>Farklı gömü modellerinin karşılaştırılması</a:t>
            </a:r>
            <a:endParaRPr lang="tr-TR" sz="1800"/>
          </a:p>
          <a:p>
            <a:pPr marL="800100" lvl="1"/>
            <a:r>
              <a:rPr lang="tr-TR" sz="1800">
                <a:ea typeface="+mn-lt"/>
                <a:cs typeface="+mn-lt"/>
              </a:rPr>
              <a:t>KVKK uyumlu veri güvenliği tasarımları</a:t>
            </a:r>
            <a:endParaRPr lang="tr-TR" sz="1800"/>
          </a:p>
          <a:p>
            <a:pPr marL="800100" lvl="1"/>
            <a:r>
              <a:rPr lang="tr-TR" sz="1800">
                <a:ea typeface="+mn-lt"/>
                <a:cs typeface="+mn-lt"/>
              </a:rPr>
              <a:t>Çok kullanıcılı ve ölçeklenebilir sistem mimarisi</a:t>
            </a:r>
            <a:endParaRPr lang="tr-TR" sz="1800"/>
          </a:p>
          <a:p>
            <a:pPr marL="457200" lvl="1" indent="0">
              <a:buNone/>
            </a:pPr>
            <a:endParaRPr lang="tr-TR" dirty="0">
              <a:ea typeface="+mn-lt"/>
              <a:cs typeface="+mn-lt"/>
            </a:endParaRPr>
          </a:p>
          <a:p>
            <a:pPr marL="457200" lvl="1" indent="0">
              <a:buNone/>
            </a:pPr>
            <a:endParaRPr lang="tr-TR" dirty="0">
              <a:ea typeface="+mn-lt"/>
              <a:cs typeface="+mn-lt"/>
            </a:endParaRPr>
          </a:p>
        </p:txBody>
      </p:sp>
      <p:sp>
        <p:nvSpPr>
          <p:cNvPr id="3" name="Veri Yer Tutucusu 2">
            <a:extLst>
              <a:ext uri="{FF2B5EF4-FFF2-40B4-BE49-F238E27FC236}">
                <a16:creationId xmlns:a16="http://schemas.microsoft.com/office/drawing/2014/main" id="{C8B07E0B-4045-BE4C-80E8-281D2998C5F1}"/>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F5618FD1-83DC-173F-9EA2-DAB1A18C7D35}"/>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CFB2E4A1-49B6-328C-86E1-2DB3C6AA1F00}"/>
              </a:ext>
            </a:extLst>
          </p:cNvPr>
          <p:cNvSpPr>
            <a:spLocks noGrp="1"/>
          </p:cNvSpPr>
          <p:nvPr>
            <p:ph type="sldNum" sz="quarter" idx="12"/>
          </p:nvPr>
        </p:nvSpPr>
        <p:spPr/>
        <p:txBody>
          <a:bodyPr/>
          <a:lstStyle/>
          <a:p>
            <a:pPr algn="ctr"/>
            <a:fld id="{761DAA7D-07E7-4CC9-A173-94FF02D0AC1F}" type="slidenum">
              <a:rPr lang="tr-TR" smtClean="0"/>
              <a:pPr algn="ctr"/>
              <a:t>20</a:t>
            </a:fld>
            <a:endParaRPr lang="tr-TR"/>
          </a:p>
        </p:txBody>
      </p:sp>
      <p:sp>
        <p:nvSpPr>
          <p:cNvPr id="6" name="Başlık 5">
            <a:extLst>
              <a:ext uri="{FF2B5EF4-FFF2-40B4-BE49-F238E27FC236}">
                <a16:creationId xmlns:a16="http://schemas.microsoft.com/office/drawing/2014/main" id="{82D5EE9C-D7BD-EBC4-A568-166B3B227B16}"/>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527704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E1708953-4469-870C-FFED-CF928CA6D59D}"/>
              </a:ext>
            </a:extLst>
          </p:cNvPr>
          <p:cNvSpPr>
            <a:spLocks noGrp="1"/>
          </p:cNvSpPr>
          <p:nvPr>
            <p:ph idx="1"/>
          </p:nvPr>
        </p:nvSpPr>
        <p:spPr>
          <a:xfrm>
            <a:off x="626856" y="2078950"/>
            <a:ext cx="8596668" cy="4145818"/>
          </a:xfrm>
        </p:spPr>
        <p:txBody>
          <a:bodyPr vert="horz" lIns="91440" tIns="45720" rIns="91440" bIns="45720" rtlCol="0" anchor="t">
            <a:normAutofit/>
          </a:bodyPr>
          <a:lstStyle/>
          <a:p>
            <a:pPr algn="just"/>
            <a:r>
              <a:rPr lang="tr-TR">
                <a:ea typeface="+mn-lt"/>
                <a:cs typeface="+mn-lt"/>
              </a:rPr>
              <a:t>Araştırma ve geliştirme süreçleri kişisel bilgisayar donanımı kullanılarak yürütülmüştür.</a:t>
            </a:r>
          </a:p>
          <a:p>
            <a:pPr algn="just"/>
            <a:r>
              <a:rPr lang="tr-TR">
                <a:ea typeface="+mn-lt"/>
                <a:cs typeface="+mn-lt"/>
              </a:rPr>
              <a:t>Yazılım geliştirme araçları: Python, sanal ortamlar, entegre geliştirme ortamı, sürüm kontrol sistemleri ve paket yöneticileri.</a:t>
            </a:r>
          </a:p>
          <a:p>
            <a:pPr algn="just"/>
            <a:r>
              <a:rPr lang="tr-TR">
                <a:ea typeface="+mn-lt"/>
                <a:cs typeface="+mn-lt"/>
              </a:rPr>
              <a:t>Sunucu ve veri yönetimi: FastAPI çatısı ve MongoDB ile yürütülmüştür.</a:t>
            </a:r>
            <a:endParaRPr lang="tr-TR"/>
          </a:p>
          <a:p>
            <a:pPr algn="just"/>
            <a:r>
              <a:rPr lang="tr-TR">
                <a:ea typeface="+mn-lt"/>
                <a:cs typeface="+mn-lt"/>
              </a:rPr>
              <a:t>PDF ve rapor işlemleri: PyMuPDF ile PDF işleme, ReportLab ile rapor üretimi.</a:t>
            </a:r>
            <a:endParaRPr lang="tr-TR"/>
          </a:p>
          <a:p>
            <a:pPr algn="just"/>
            <a:r>
              <a:rPr lang="tr-TR">
                <a:ea typeface="+mn-lt"/>
                <a:cs typeface="+mn-lt"/>
              </a:rPr>
              <a:t>Makine öğrenmesi ve NLP bileşenleri: Transformers, Sentence-Transformers ve PyTorch kullanılmıştır.</a:t>
            </a:r>
            <a:endParaRPr lang="tr-TR"/>
          </a:p>
          <a:p>
            <a:pPr algn="just"/>
            <a:r>
              <a:rPr lang="tr-TR">
                <a:ea typeface="+mn-lt"/>
                <a:cs typeface="+mn-lt"/>
              </a:rPr>
              <a:t>Optik karakter tanıma (OCR): EasyOCR ile uygulanmıştır.</a:t>
            </a:r>
          </a:p>
          <a:p>
            <a:pPr algn="just"/>
            <a:r>
              <a:rPr lang="tr-TR">
                <a:ea typeface="+mn-lt"/>
                <a:cs typeface="+mn-lt"/>
              </a:rPr>
              <a:t>Test ve doğrulama: Farklı düzenlerdeki PDF özgeçmişler ve iş ilanları kullanılarak, modüllerin uçtan uca entegrasyonu ve gözlemsel senaryolar yürütülmüştür.</a:t>
            </a:r>
          </a:p>
          <a:p>
            <a:pPr algn="just"/>
            <a:endParaRPr lang="tr-TR">
              <a:ea typeface="+mn-lt"/>
              <a:cs typeface="+mn-lt"/>
            </a:endParaRPr>
          </a:p>
        </p:txBody>
      </p:sp>
      <p:sp>
        <p:nvSpPr>
          <p:cNvPr id="3" name="Veri Yer Tutucusu 2">
            <a:extLst>
              <a:ext uri="{FF2B5EF4-FFF2-40B4-BE49-F238E27FC236}">
                <a16:creationId xmlns:a16="http://schemas.microsoft.com/office/drawing/2014/main" id="{D02DCC87-DB40-AF3A-8605-5CE410CC84C8}"/>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D85BDDB4-E2BB-F732-DD69-9BE3B17F5CBD}"/>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B5B1BBEC-1CFD-43B5-A4B7-92276307CDDB}"/>
              </a:ext>
            </a:extLst>
          </p:cNvPr>
          <p:cNvSpPr>
            <a:spLocks noGrp="1"/>
          </p:cNvSpPr>
          <p:nvPr>
            <p:ph type="sldNum" sz="quarter" idx="12"/>
          </p:nvPr>
        </p:nvSpPr>
        <p:spPr/>
        <p:txBody>
          <a:bodyPr/>
          <a:lstStyle/>
          <a:p>
            <a:pPr algn="ctr"/>
            <a:fld id="{761DAA7D-07E7-4CC9-A173-94FF02D0AC1F}" type="slidenum">
              <a:rPr lang="tr-TR" smtClean="0"/>
              <a:pPr algn="ctr"/>
              <a:t>21</a:t>
            </a:fld>
            <a:endParaRPr lang="tr-TR"/>
          </a:p>
        </p:txBody>
      </p:sp>
      <p:sp>
        <p:nvSpPr>
          <p:cNvPr id="6" name="Başlık 5">
            <a:extLst>
              <a:ext uri="{FF2B5EF4-FFF2-40B4-BE49-F238E27FC236}">
                <a16:creationId xmlns:a16="http://schemas.microsoft.com/office/drawing/2014/main" id="{0F236064-BC9A-0DFD-FA9B-C949C1E1302C}"/>
              </a:ext>
            </a:extLst>
          </p:cNvPr>
          <p:cNvSpPr>
            <a:spLocks noGrp="1"/>
          </p:cNvSpPr>
          <p:nvPr>
            <p:ph type="title"/>
          </p:nvPr>
        </p:nvSpPr>
        <p:spPr/>
        <p:txBody>
          <a:bodyPr/>
          <a:lstStyle/>
          <a:p>
            <a:r>
              <a:rPr lang="tr-TR"/>
              <a:t>8. Tez Konusuyla İlgili Araştırma Olanakları : </a:t>
            </a:r>
          </a:p>
        </p:txBody>
      </p:sp>
    </p:spTree>
    <p:extLst>
      <p:ext uri="{BB962C8B-B14F-4D97-AF65-F5344CB8AC3E}">
        <p14:creationId xmlns:p14="http://schemas.microsoft.com/office/powerpoint/2010/main" val="1683018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E7CFB4F-9770-6B5F-69FB-BB26574271CF}"/>
              </a:ext>
            </a:extLst>
          </p:cNvPr>
          <p:cNvSpPr>
            <a:spLocks noGrp="1"/>
          </p:cNvSpPr>
          <p:nvPr>
            <p:ph idx="1"/>
          </p:nvPr>
        </p:nvSpPr>
        <p:spPr/>
        <p:txBody>
          <a:bodyPr vert="horz" lIns="91440" tIns="45720" rIns="91440" bIns="45720" rtlCol="0" anchor="t">
            <a:normAutofit lnSpcReduction="10000"/>
          </a:bodyPr>
          <a:lstStyle/>
          <a:p>
            <a:pPr algn="just"/>
            <a:r>
              <a:rPr lang="tr-TR">
                <a:ea typeface="+mn-lt"/>
                <a:cs typeface="+mn-lt"/>
              </a:rPr>
              <a:t>Ekonomik ve operasyonel katkı: Özgeçmiş ve iş ilanlarını hızlı tarayarak ön eleme sürecini hızlandırır, KOBİ’ler ve insan kaynakları birimlerinde zaman tasarrufu sağlar.</a:t>
            </a:r>
            <a:endParaRPr lang="tr-TR"/>
          </a:p>
          <a:p>
            <a:pPr algn="just"/>
            <a:r>
              <a:rPr lang="tr-TR">
                <a:ea typeface="+mn-lt"/>
                <a:cs typeface="+mn-lt"/>
              </a:rPr>
              <a:t>Toplumsal katkı: Alt skorlarla değerlendirme ölçütlerini görünür kılar, adaylara geri bildirim ve öneriler sunarak şeffaflığı artırır.</a:t>
            </a:r>
            <a:endParaRPr lang="tr-TR"/>
          </a:p>
          <a:p>
            <a:pPr algn="just"/>
            <a:r>
              <a:rPr lang="tr-TR">
                <a:ea typeface="+mn-lt"/>
                <a:cs typeface="+mn-lt"/>
              </a:rPr>
              <a:t>Bilimsel katkı: Türkçe doğal dil işleme bağlamında hibrit kural ve gömü tabanlı yöntemlerin RAG entegrasyonu ile uçtan uca bir örnek sunar; yöntem ve mimari karşılaştırmaları için zemin hazırlar.</a:t>
            </a:r>
          </a:p>
          <a:p>
            <a:pPr algn="just"/>
            <a:r>
              <a:rPr lang="tr-TR">
                <a:ea typeface="+mn-lt"/>
                <a:cs typeface="+mn-lt"/>
              </a:rPr>
              <a:t>Kullanıcı ve paydaşlar: İnsan kaynakları uzmanları, iş arayanlar, kariyer merkezleri ve araştırmacılar platform çıktılarından faydalanabilir.</a:t>
            </a:r>
            <a:endParaRPr lang="tr-TR"/>
          </a:p>
          <a:p>
            <a:pPr algn="just"/>
            <a:r>
              <a:rPr lang="tr-TR">
                <a:ea typeface="+mn-lt"/>
                <a:cs typeface="+mn-lt"/>
              </a:rPr>
              <a:t>Dikkat edilmesi gerekenler: Otomasyon önyargıyı tamamen ortadan kaldırmaz; insan denetimi, veri kalitesi ve KVKK uyumu kritik önemdedir.</a:t>
            </a:r>
          </a:p>
        </p:txBody>
      </p:sp>
      <p:sp>
        <p:nvSpPr>
          <p:cNvPr id="3" name="Veri Yer Tutucusu 2">
            <a:extLst>
              <a:ext uri="{FF2B5EF4-FFF2-40B4-BE49-F238E27FC236}">
                <a16:creationId xmlns:a16="http://schemas.microsoft.com/office/drawing/2014/main" id="{D94C9193-357C-185F-E579-FAE1C0F93BF0}"/>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DE680E58-6AF6-4F38-7B12-7691F77C9F0E}"/>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4B0168DE-891C-759E-901D-ABFEA12B329E}"/>
              </a:ext>
            </a:extLst>
          </p:cNvPr>
          <p:cNvSpPr>
            <a:spLocks noGrp="1"/>
          </p:cNvSpPr>
          <p:nvPr>
            <p:ph type="sldNum" sz="quarter" idx="12"/>
          </p:nvPr>
        </p:nvSpPr>
        <p:spPr/>
        <p:txBody>
          <a:bodyPr/>
          <a:lstStyle/>
          <a:p>
            <a:pPr algn="ctr"/>
            <a:fld id="{761DAA7D-07E7-4CC9-A173-94FF02D0AC1F}" type="slidenum">
              <a:rPr lang="tr-TR" smtClean="0"/>
              <a:pPr algn="ctr"/>
              <a:t>22</a:t>
            </a:fld>
            <a:endParaRPr lang="tr-TR"/>
          </a:p>
        </p:txBody>
      </p:sp>
      <p:sp>
        <p:nvSpPr>
          <p:cNvPr id="6" name="Başlık 5">
            <a:extLst>
              <a:ext uri="{FF2B5EF4-FFF2-40B4-BE49-F238E27FC236}">
                <a16:creationId xmlns:a16="http://schemas.microsoft.com/office/drawing/2014/main" id="{C120B800-2E52-4421-F43D-9EBA89F4CDB9}"/>
              </a:ext>
            </a:extLst>
          </p:cNvPr>
          <p:cNvSpPr>
            <a:spLocks noGrp="1"/>
          </p:cNvSpPr>
          <p:nvPr>
            <p:ph type="title"/>
          </p:nvPr>
        </p:nvSpPr>
        <p:spPr/>
        <p:txBody>
          <a:bodyPr/>
          <a:lstStyle/>
          <a:p>
            <a:r>
              <a:rPr lang="tr-TR"/>
              <a:t>9. Yaygın Etki / Katma Değer  :</a:t>
            </a:r>
          </a:p>
        </p:txBody>
      </p:sp>
    </p:spTree>
    <p:extLst>
      <p:ext uri="{BB962C8B-B14F-4D97-AF65-F5344CB8AC3E}">
        <p14:creationId xmlns:p14="http://schemas.microsoft.com/office/powerpoint/2010/main" val="810786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çerik Yer Tutucusu 6">
            <a:extLst>
              <a:ext uri="{FF2B5EF4-FFF2-40B4-BE49-F238E27FC236}">
                <a16:creationId xmlns:a16="http://schemas.microsoft.com/office/drawing/2014/main" id="{596718BC-9E90-DAE3-CB16-0791E8BEEBD2}"/>
              </a:ext>
            </a:extLst>
          </p:cNvPr>
          <p:cNvGraphicFramePr>
            <a:graphicFrameLocks noGrp="1"/>
          </p:cNvGraphicFramePr>
          <p:nvPr>
            <p:ph idx="1"/>
            <p:extLst>
              <p:ext uri="{D42A27DB-BD31-4B8C-83A1-F6EECF244321}">
                <p14:modId xmlns:p14="http://schemas.microsoft.com/office/powerpoint/2010/main" val="1444605522"/>
              </p:ext>
            </p:extLst>
          </p:nvPr>
        </p:nvGraphicFramePr>
        <p:xfrm>
          <a:off x="626856" y="2202426"/>
          <a:ext cx="8596668" cy="3666672"/>
        </p:xfrm>
        <a:graphic>
          <a:graphicData uri="http://schemas.openxmlformats.org/drawingml/2006/table">
            <a:tbl>
              <a:tblPr firstRow="1" firstCol="1" bandRow="1">
                <a:tableStyleId>{5C22544A-7EE6-4342-B048-85BDC9FD1C3A}</a:tableStyleId>
              </a:tblPr>
              <a:tblGrid>
                <a:gridCol w="754788">
                  <a:extLst>
                    <a:ext uri="{9D8B030D-6E8A-4147-A177-3AD203B41FA5}">
                      <a16:colId xmlns:a16="http://schemas.microsoft.com/office/drawing/2014/main" val="4133106689"/>
                    </a:ext>
                  </a:extLst>
                </a:gridCol>
                <a:gridCol w="5489000">
                  <a:extLst>
                    <a:ext uri="{9D8B030D-6E8A-4147-A177-3AD203B41FA5}">
                      <a16:colId xmlns:a16="http://schemas.microsoft.com/office/drawing/2014/main" val="3843764378"/>
                    </a:ext>
                  </a:extLst>
                </a:gridCol>
                <a:gridCol w="2352880">
                  <a:extLst>
                    <a:ext uri="{9D8B030D-6E8A-4147-A177-3AD203B41FA5}">
                      <a16:colId xmlns:a16="http://schemas.microsoft.com/office/drawing/2014/main" val="1848052894"/>
                    </a:ext>
                  </a:extLst>
                </a:gridCol>
              </a:tblGrid>
              <a:tr h="305556">
                <a:tc gridSpan="3">
                  <a:txBody>
                    <a:bodyPr/>
                    <a:lstStyle/>
                    <a:p>
                      <a:pPr algn="just">
                        <a:lnSpc>
                          <a:spcPct val="107000"/>
                        </a:lnSpc>
                        <a:spcAft>
                          <a:spcPts val="800"/>
                        </a:spcAft>
                        <a:buNone/>
                      </a:pPr>
                      <a:r>
                        <a:rPr lang="tr-TR" sz="1000">
                          <a:effectLst/>
                        </a:rPr>
                        <a:t>ÇALIŞMA PLANI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3060829466"/>
                  </a:ext>
                </a:extLst>
              </a:tr>
              <a:tr h="305556">
                <a:tc>
                  <a:txBody>
                    <a:bodyPr/>
                    <a:lstStyle/>
                    <a:p>
                      <a:pPr algn="ctr">
                        <a:lnSpc>
                          <a:spcPct val="107000"/>
                        </a:lnSpc>
                        <a:spcAft>
                          <a:spcPts val="800"/>
                        </a:spcAft>
                        <a:buNone/>
                      </a:pPr>
                      <a:r>
                        <a:rPr lang="tr-TR" sz="1100">
                          <a:effectLst/>
                        </a:rPr>
                        <a:t>No</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tr-TR" sz="1100">
                          <a:effectLst/>
                        </a:rPr>
                        <a:t>İş Paketi</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tr-TR" sz="1100">
                          <a:effectLst/>
                        </a:rPr>
                        <a:t>Süre </a:t>
                      </a:r>
                      <a:r>
                        <a:rPr lang="tr-TR" sz="1100"/>
                        <a:t>(hafta)</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07985519"/>
                  </a:ext>
                </a:extLst>
              </a:tr>
              <a:tr h="305556">
                <a:tc>
                  <a:txBody>
                    <a:bodyPr/>
                    <a:lstStyle/>
                    <a:p>
                      <a:pPr algn="ctr">
                        <a:lnSpc>
                          <a:spcPct val="107000"/>
                        </a:lnSpc>
                        <a:spcAft>
                          <a:spcPts val="800"/>
                        </a:spcAft>
                        <a:buNone/>
                      </a:pPr>
                      <a:r>
                        <a:rPr lang="tr-TR" sz="1100">
                          <a:effectLst/>
                        </a:rPr>
                        <a:t>1</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Literatür özeti, kaynakça/atıf düzeni   </a:t>
                      </a:r>
                      <a:endParaRPr lang="tr-TR">
                        <a:effectLst/>
                      </a:endParaRPr>
                    </a:p>
                  </a:txBody>
                  <a:tcPr marL="68580" marR="68580" marT="0" marB="0" anchor="ctr"/>
                </a:tc>
                <a:tc>
                  <a:txBody>
                    <a:bodyPr/>
                    <a:lstStyle/>
                    <a:p>
                      <a:pPr algn="ctr">
                        <a:lnSpc>
                          <a:spcPct val="107000"/>
                        </a:lnSpc>
                        <a:spcAft>
                          <a:spcPts val="800"/>
                        </a:spcAft>
                        <a:buNone/>
                      </a:pPr>
                      <a:r>
                        <a:rPr lang="tr-TR" sz="1000"/>
                        <a:t>1</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50653948"/>
                  </a:ext>
                </a:extLst>
              </a:tr>
              <a:tr h="305556">
                <a:tc>
                  <a:txBody>
                    <a:bodyPr/>
                    <a:lstStyle/>
                    <a:p>
                      <a:pPr algn="ctr">
                        <a:lnSpc>
                          <a:spcPct val="107000"/>
                        </a:lnSpc>
                        <a:spcAft>
                          <a:spcPts val="800"/>
                        </a:spcAft>
                        <a:buNone/>
                      </a:pPr>
                      <a:r>
                        <a:rPr lang="tr-TR" sz="1100">
                          <a:effectLst/>
                        </a:rPr>
                        <a:t>2</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Gereksinimler, kullanım senaryoları, mimari ve API–veri modeli taslağı    </a:t>
                      </a:r>
                      <a:endParaRPr lang="tr-TR">
                        <a:effectLst/>
                      </a:endParaRPr>
                    </a:p>
                  </a:txBody>
                  <a:tcPr marL="68580" marR="68580" marT="0" marB="0" anchor="ctr"/>
                </a:tc>
                <a:tc>
                  <a:txBody>
                    <a:bodyPr/>
                    <a:lstStyle/>
                    <a:p>
                      <a:pPr algn="ctr">
                        <a:lnSpc>
                          <a:spcPct val="107000"/>
                        </a:lnSpc>
                        <a:spcAft>
                          <a:spcPts val="800"/>
                        </a:spcAft>
                        <a:buNone/>
                      </a:pPr>
                      <a:r>
                        <a:rPr lang="tr-TR" sz="1000"/>
                        <a:t>1</a:t>
                      </a:r>
                      <a:endParaRPr lang="tr-TR" sz="1000" dirty="0">
                        <a:effectLst/>
                      </a:endParaRPr>
                    </a:p>
                  </a:txBody>
                  <a:tcPr marL="68580" marR="68580" marT="0" marB="0" anchor="ctr"/>
                </a:tc>
                <a:extLst>
                  <a:ext uri="{0D108BD9-81ED-4DB2-BD59-A6C34878D82A}">
                    <a16:rowId xmlns:a16="http://schemas.microsoft.com/office/drawing/2014/main" val="1704637123"/>
                  </a:ext>
                </a:extLst>
              </a:tr>
              <a:tr h="305556">
                <a:tc>
                  <a:txBody>
                    <a:bodyPr/>
                    <a:lstStyle/>
                    <a:p>
                      <a:pPr algn="ctr">
                        <a:lnSpc>
                          <a:spcPct val="107000"/>
                        </a:lnSpc>
                        <a:spcAft>
                          <a:spcPts val="800"/>
                        </a:spcAft>
                        <a:buNone/>
                      </a:pPr>
                      <a:r>
                        <a:rPr lang="tr-TR" sz="1100">
                          <a:effectLst/>
                        </a:rPr>
                        <a:t>3</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Backend: FastAPI iskeleti, MongoDB, temel /api uçları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1-2</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2642320"/>
                  </a:ext>
                </a:extLst>
              </a:tr>
              <a:tr h="305556">
                <a:tc>
                  <a:txBody>
                    <a:bodyPr/>
                    <a:lstStyle/>
                    <a:p>
                      <a:pPr algn="ctr">
                        <a:lnSpc>
                          <a:spcPct val="107000"/>
                        </a:lnSpc>
                        <a:spcAft>
                          <a:spcPts val="800"/>
                        </a:spcAft>
                        <a:buNone/>
                      </a:pPr>
                      <a:r>
                        <a:rPr lang="tr-TR" sz="1100">
                          <a:effectLst/>
                        </a:rPr>
                        <a:t>4</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PDF pipeline (PyMuPDF), CV analiz modülü, örnek PDF doğrulama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2-3</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70922656"/>
                  </a:ext>
                </a:extLst>
              </a:tr>
              <a:tr h="305556">
                <a:tc>
                  <a:txBody>
                    <a:bodyPr/>
                    <a:lstStyle/>
                    <a:p>
                      <a:pPr algn="ctr">
                        <a:lnSpc>
                          <a:spcPct val="107000"/>
                        </a:lnSpc>
                        <a:spcAft>
                          <a:spcPts val="800"/>
                        </a:spcAft>
                        <a:buNone/>
                      </a:pPr>
                      <a:r>
                        <a:rPr lang="tr-TR" sz="1100">
                          <a:effectLst/>
                        </a:rPr>
                        <a:t>5</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İş ilanı analiz modülü (zorunlu/tercih, eğitim–deneyim–dil)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3</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27360493"/>
                  </a:ext>
                </a:extLst>
              </a:tr>
              <a:tr h="305556">
                <a:tc>
                  <a:txBody>
                    <a:bodyPr/>
                    <a:lstStyle/>
                    <a:p>
                      <a:pPr algn="ctr">
                        <a:lnSpc>
                          <a:spcPct val="107000"/>
                        </a:lnSpc>
                        <a:spcAft>
                          <a:spcPts val="800"/>
                        </a:spcAft>
                        <a:buNone/>
                      </a:pPr>
                      <a:r>
                        <a:rPr lang="tr-TR" sz="1100">
                          <a:effectLst/>
                        </a:rPr>
                        <a:t>6</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Kural tabanlı eşleştirme motoru, öneriler, eşleştirme kaydı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3-4</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71967842"/>
                  </a:ext>
                </a:extLst>
              </a:tr>
              <a:tr h="305556">
                <a:tc>
                  <a:txBody>
                    <a:bodyPr/>
                    <a:lstStyle/>
                    <a:p>
                      <a:pPr algn="ctr">
                        <a:lnSpc>
                          <a:spcPct val="107000"/>
                        </a:lnSpc>
                        <a:spcAft>
                          <a:spcPts val="800"/>
                        </a:spcAft>
                        <a:buNone/>
                      </a:pPr>
                      <a:r>
                        <a:rPr lang="tr-TR" sz="1100">
                          <a:effectLst/>
                        </a:rPr>
                        <a:t>7</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Sentence-Transformers entegrasyonu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4</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1045691"/>
                  </a:ext>
                </a:extLst>
              </a:tr>
              <a:tr h="305556">
                <a:tc>
                  <a:txBody>
                    <a:bodyPr/>
                    <a:lstStyle/>
                    <a:p>
                      <a:pPr algn="ctr">
                        <a:lnSpc>
                          <a:spcPct val="107000"/>
                        </a:lnSpc>
                        <a:spcAft>
                          <a:spcPts val="800"/>
                        </a:spcAft>
                        <a:buNone/>
                      </a:pPr>
                      <a:r>
                        <a:rPr lang="tr-TR" sz="1100">
                          <a:effectLst/>
                        </a:rPr>
                        <a:t>8</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Web arayüzü: CV/ilan/eşleştirme sayfaları, API bağlantısı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3-5</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18592530"/>
                  </a:ext>
                </a:extLst>
              </a:tr>
              <a:tr h="305556">
                <a:tc>
                  <a:txBody>
                    <a:bodyPr/>
                    <a:lstStyle/>
                    <a:p>
                      <a:pPr algn="ctr">
                        <a:lnSpc>
                          <a:spcPct val="107000"/>
                        </a:lnSpc>
                        <a:spcAft>
                          <a:spcPts val="800"/>
                        </a:spcAft>
                        <a:buNone/>
                      </a:pPr>
                      <a:r>
                        <a:rPr lang="tr-TR" sz="1100">
                          <a:effectLst/>
                        </a:rPr>
                        <a:t>9</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RAG servisi + PDF rapor; uçtan uca senaryo çalıştırma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4-5</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54171488"/>
                  </a:ext>
                </a:extLst>
              </a:tr>
              <a:tr h="305556">
                <a:tc>
                  <a:txBody>
                    <a:bodyPr/>
                    <a:lstStyle/>
                    <a:p>
                      <a:pPr algn="ctr">
                        <a:lnSpc>
                          <a:spcPct val="107000"/>
                        </a:lnSpc>
                        <a:spcAft>
                          <a:spcPts val="800"/>
                        </a:spcAft>
                        <a:buNone/>
                      </a:pPr>
                      <a:r>
                        <a:rPr lang="tr-TR" sz="1100">
                          <a:effectLst/>
                        </a:rPr>
                        <a:t>10</a:t>
                      </a:r>
                      <a:endParaRPr lang="tr-T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just">
                        <a:lnSpc>
                          <a:spcPct val="107000"/>
                        </a:lnSpc>
                        <a:spcAft>
                          <a:spcPts val="800"/>
                        </a:spcAft>
                        <a:buNone/>
                      </a:pPr>
                      <a:r>
                        <a:rPr lang="tr-TR" sz="1100" b="0" i="0" u="none" strike="noStrike" noProof="0"/>
                        <a:t>Bulgular/görseller, sonuç ve sunum slaytları; revizyon ve prova   </a:t>
                      </a:r>
                      <a:endParaRPr lang="tr-TR">
                        <a:effectLst/>
                      </a:endParaRPr>
                    </a:p>
                  </a:txBody>
                  <a:tcPr marL="68580" marR="68580" marT="0" marB="0" anchor="ctr"/>
                </a:tc>
                <a:tc>
                  <a:txBody>
                    <a:bodyPr/>
                    <a:lstStyle/>
                    <a:p>
                      <a:pPr algn="ctr">
                        <a:lnSpc>
                          <a:spcPct val="107000"/>
                        </a:lnSpc>
                        <a:spcAft>
                          <a:spcPts val="800"/>
                        </a:spcAft>
                        <a:buNone/>
                      </a:pPr>
                      <a:r>
                        <a:rPr lang="tr-TR" sz="1100">
                          <a:latin typeface="Calibri"/>
                          <a:ea typeface="Calibri"/>
                          <a:cs typeface="Times New Roman"/>
                        </a:rPr>
                        <a:t>5</a:t>
                      </a:r>
                      <a:endParaRPr lang="tr-T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77084110"/>
                  </a:ext>
                </a:extLst>
              </a:tr>
            </a:tbl>
          </a:graphicData>
        </a:graphic>
      </p:graphicFrame>
      <p:sp>
        <p:nvSpPr>
          <p:cNvPr id="3" name="Veri Yer Tutucusu 2">
            <a:extLst>
              <a:ext uri="{FF2B5EF4-FFF2-40B4-BE49-F238E27FC236}">
                <a16:creationId xmlns:a16="http://schemas.microsoft.com/office/drawing/2014/main" id="{B36BEE0F-C58B-7F85-CA0B-9B08E0608CB9}"/>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CBE6C914-536F-3974-1D13-54DC8B850FE3}"/>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2A2DCC16-2503-A8E5-0790-8670E08527EB}"/>
              </a:ext>
            </a:extLst>
          </p:cNvPr>
          <p:cNvSpPr>
            <a:spLocks noGrp="1"/>
          </p:cNvSpPr>
          <p:nvPr>
            <p:ph type="sldNum" sz="quarter" idx="12"/>
          </p:nvPr>
        </p:nvSpPr>
        <p:spPr/>
        <p:txBody>
          <a:bodyPr/>
          <a:lstStyle/>
          <a:p>
            <a:pPr algn="ctr"/>
            <a:fld id="{761DAA7D-07E7-4CC9-A173-94FF02D0AC1F}" type="slidenum">
              <a:rPr lang="tr-TR" smtClean="0"/>
              <a:pPr algn="ctr"/>
              <a:t>23</a:t>
            </a:fld>
            <a:endParaRPr lang="tr-TR"/>
          </a:p>
        </p:txBody>
      </p:sp>
      <p:sp>
        <p:nvSpPr>
          <p:cNvPr id="6" name="Başlık 5">
            <a:extLst>
              <a:ext uri="{FF2B5EF4-FFF2-40B4-BE49-F238E27FC236}">
                <a16:creationId xmlns:a16="http://schemas.microsoft.com/office/drawing/2014/main" id="{AB9304DD-48D6-FF52-5AFB-BEDEE71F7922}"/>
              </a:ext>
            </a:extLst>
          </p:cNvPr>
          <p:cNvSpPr>
            <a:spLocks noGrp="1"/>
          </p:cNvSpPr>
          <p:nvPr>
            <p:ph type="title"/>
          </p:nvPr>
        </p:nvSpPr>
        <p:spPr/>
        <p:txBody>
          <a:bodyPr/>
          <a:lstStyle/>
          <a:p>
            <a:r>
              <a:rPr lang="tr-TR"/>
              <a:t>10. Çalışma Takvimi :</a:t>
            </a:r>
          </a:p>
        </p:txBody>
      </p:sp>
    </p:spTree>
    <p:extLst>
      <p:ext uri="{BB962C8B-B14F-4D97-AF65-F5344CB8AC3E}">
        <p14:creationId xmlns:p14="http://schemas.microsoft.com/office/powerpoint/2010/main" val="1381954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9A28D27-3321-9B7F-D087-F6581C063FB8}"/>
              </a:ext>
            </a:extLst>
          </p:cNvPr>
          <p:cNvSpPr>
            <a:spLocks noGrp="1"/>
          </p:cNvSpPr>
          <p:nvPr>
            <p:ph idx="1"/>
          </p:nvPr>
        </p:nvSpPr>
        <p:spPr/>
        <p:txBody>
          <a:bodyPr vert="horz" lIns="91440" tIns="45720" rIns="91440" bIns="45720" rtlCol="0" anchor="t">
            <a:normAutofit lnSpcReduction="10000"/>
          </a:bodyPr>
          <a:lstStyle/>
          <a:p>
            <a:r>
              <a:rPr lang="tr-TR"/>
              <a:t>Hazırlık ve Çerçeve(1. Hafta)</a:t>
            </a:r>
            <a:endParaRPr lang="tr-TR" dirty="0"/>
          </a:p>
          <a:p>
            <a:pPr marL="800100" lvl="1">
              <a:buFont typeface="Courier New" charset="2"/>
              <a:buChar char="o"/>
            </a:pPr>
            <a:r>
              <a:rPr lang="tr-TR" sz="1800">
                <a:ea typeface="+mn-lt"/>
                <a:cs typeface="+mn-lt"/>
              </a:rPr>
              <a:t>Tez öğrencisi: Literatür taraması ve literatür analizi taslağının hazırlanması; tez yazım kılavuzu ve kaynak gösterim kurallarının incelenmesi; amaç, kapsam ve yöntem çerçevesinin öğrenci tarafından yazılması.</a:t>
            </a:r>
          </a:p>
          <a:p>
            <a:r>
              <a:rPr lang="tr-TR">
                <a:ea typeface="+mn-lt"/>
                <a:cs typeface="+mn-lt"/>
              </a:rPr>
              <a:t>Tasarım ve Yazılım Altyapısı(1-2. Hafta)</a:t>
            </a:r>
            <a:endParaRPr lang="tr-TR" dirty="0">
              <a:ea typeface="+mn-lt"/>
              <a:cs typeface="+mn-lt"/>
            </a:endParaRPr>
          </a:p>
          <a:p>
            <a:pPr marL="800100" lvl="1">
              <a:buFont typeface="Courier New" charset="2"/>
              <a:buChar char="o"/>
            </a:pPr>
            <a:r>
              <a:rPr lang="tr-TR" sz="1800">
                <a:ea typeface="+mn-lt"/>
                <a:cs typeface="+mn-lt"/>
              </a:rPr>
              <a:t>Tez öğrencisi: Kullanım senaryolarının belirlenmesi; mimari ve modül taslağının çıkarılması; FastAPI iskeleti, MongoDB bağlantısı ve temel API uçlarının kurulması. </a:t>
            </a:r>
          </a:p>
          <a:p>
            <a:r>
              <a:rPr lang="tr-TR">
                <a:ea typeface="+mn-lt"/>
                <a:cs typeface="+mn-lt"/>
              </a:rPr>
              <a:t>PDF, CV ve İlan Analizi(2-3. Hafta)</a:t>
            </a:r>
            <a:endParaRPr lang="tr-TR" dirty="0">
              <a:ea typeface="+mn-lt"/>
              <a:cs typeface="+mn-lt"/>
            </a:endParaRPr>
          </a:p>
          <a:p>
            <a:pPr marL="800100" lvl="1">
              <a:buFont typeface="Courier New" charset="2"/>
              <a:buChar char="o"/>
            </a:pPr>
            <a:r>
              <a:rPr lang="tr-TR" sz="1800">
                <a:ea typeface="+mn-lt"/>
                <a:cs typeface="+mn-lt"/>
              </a:rPr>
              <a:t>Tez öğrencisi: PDF işleme hattı, CV analiz modülü ve iş ilanı analiz modülünün geliştirilmesi; örnek dosyalarla doğrulama ve düzeltmeler.</a:t>
            </a:r>
            <a:endParaRPr lang="tr-TR" sz="1800" dirty="0"/>
          </a:p>
          <a:p>
            <a:pPr marL="514350" lvl="1" indent="0">
              <a:buNone/>
            </a:pPr>
            <a:endParaRPr lang="tr-TR" sz="1800" dirty="0"/>
          </a:p>
          <a:p>
            <a:endParaRPr lang="tr-TR" dirty="0"/>
          </a:p>
        </p:txBody>
      </p:sp>
      <p:sp>
        <p:nvSpPr>
          <p:cNvPr id="3" name="Veri Yer Tutucusu 2">
            <a:extLst>
              <a:ext uri="{FF2B5EF4-FFF2-40B4-BE49-F238E27FC236}">
                <a16:creationId xmlns:a16="http://schemas.microsoft.com/office/drawing/2014/main" id="{8E4D8C3B-19AA-83E2-254E-EE6D51787E7F}"/>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4F69AE8D-E8B5-F110-9BF1-41012B143025}"/>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3CA20525-CA66-E50B-55E6-DD758B28666F}"/>
              </a:ext>
            </a:extLst>
          </p:cNvPr>
          <p:cNvSpPr>
            <a:spLocks noGrp="1"/>
          </p:cNvSpPr>
          <p:nvPr>
            <p:ph type="sldNum" sz="quarter" idx="12"/>
          </p:nvPr>
        </p:nvSpPr>
        <p:spPr/>
        <p:txBody>
          <a:bodyPr/>
          <a:lstStyle/>
          <a:p>
            <a:pPr algn="ctr"/>
            <a:fld id="{761DAA7D-07E7-4CC9-A173-94FF02D0AC1F}" type="slidenum">
              <a:rPr lang="tr-TR" smtClean="0"/>
              <a:pPr algn="ctr"/>
              <a:t>24</a:t>
            </a:fld>
            <a:endParaRPr lang="tr-TR"/>
          </a:p>
        </p:txBody>
      </p:sp>
      <p:sp>
        <p:nvSpPr>
          <p:cNvPr id="6" name="Başlık 5">
            <a:extLst>
              <a:ext uri="{FF2B5EF4-FFF2-40B4-BE49-F238E27FC236}">
                <a16:creationId xmlns:a16="http://schemas.microsoft.com/office/drawing/2014/main" id="{A6C1AC15-9434-17F1-87EA-B1C0423377FC}"/>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86116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342A412-4B6E-59CC-7758-63F0A4E19CB7}"/>
              </a:ext>
            </a:extLst>
          </p:cNvPr>
          <p:cNvSpPr>
            <a:spLocks noGrp="1"/>
          </p:cNvSpPr>
          <p:nvPr>
            <p:ph idx="1"/>
          </p:nvPr>
        </p:nvSpPr>
        <p:spPr/>
        <p:txBody>
          <a:bodyPr vert="horz" lIns="91440" tIns="45720" rIns="91440" bIns="45720" rtlCol="0" anchor="t">
            <a:normAutofit/>
          </a:bodyPr>
          <a:lstStyle/>
          <a:p>
            <a:r>
              <a:rPr lang="tr-TR">
                <a:ea typeface="+mn-lt"/>
                <a:cs typeface="+mn-lt"/>
              </a:rPr>
              <a:t>Eşleştirme, arayüz, RAG ve rapor (3–5. hafta)</a:t>
            </a:r>
          </a:p>
          <a:p>
            <a:pPr marL="800100" lvl="1">
              <a:buFont typeface="Courier New" charset="2"/>
              <a:buChar char="o"/>
            </a:pPr>
            <a:r>
              <a:rPr lang="tr-TR" sz="1800">
                <a:ea typeface="+mn-lt"/>
                <a:cs typeface="+mn-lt"/>
              </a:rPr>
              <a:t>Tez öğrencisi: Kural tabanlı eşleştirme, isteğe bağlı yapay zekâ eşleştirme, web arayüzü entegrasyonu, RAG ve PDF rapor bileşenlerinin gerçeklenmesi; uçtan uca senaryoların çalıştırılması.</a:t>
            </a:r>
          </a:p>
          <a:p>
            <a:r>
              <a:rPr lang="tr-TR">
                <a:ea typeface="+mn-lt"/>
                <a:cs typeface="+mn-lt"/>
              </a:rPr>
              <a:t>Bulgular, sonuç ve sunum (5. hafta)</a:t>
            </a:r>
          </a:p>
          <a:p>
            <a:pPr marL="800100" lvl="1">
              <a:buFont typeface="Courier New" charset="2"/>
              <a:buChar char="o"/>
            </a:pPr>
            <a:r>
              <a:rPr lang="tr-TR" sz="1800">
                <a:ea typeface="+mn-lt"/>
                <a:cs typeface="+mn-lt"/>
              </a:rPr>
              <a:t>Tez öğrencisi: Bulgular ve tartışma metni, görseller, sonuç bölümleri, çalışma takvimi ve sunum slaytlarının hazırlanması.</a:t>
            </a:r>
            <a:endParaRPr lang="tr-TR" sz="1800"/>
          </a:p>
        </p:txBody>
      </p:sp>
      <p:sp>
        <p:nvSpPr>
          <p:cNvPr id="3" name="Veri Yer Tutucusu 2">
            <a:extLst>
              <a:ext uri="{FF2B5EF4-FFF2-40B4-BE49-F238E27FC236}">
                <a16:creationId xmlns:a16="http://schemas.microsoft.com/office/drawing/2014/main" id="{5CFAF9FF-D676-B00D-1EC6-184F5325E639}"/>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782D1AE8-93D7-63B1-2D11-7208BFC134D0}"/>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6D35527B-5F3D-060A-07A5-808CE1AAE571}"/>
              </a:ext>
            </a:extLst>
          </p:cNvPr>
          <p:cNvSpPr>
            <a:spLocks noGrp="1"/>
          </p:cNvSpPr>
          <p:nvPr>
            <p:ph type="sldNum" sz="quarter" idx="12"/>
          </p:nvPr>
        </p:nvSpPr>
        <p:spPr/>
        <p:txBody>
          <a:bodyPr/>
          <a:lstStyle/>
          <a:p>
            <a:pPr algn="ctr"/>
            <a:fld id="{761DAA7D-07E7-4CC9-A173-94FF02D0AC1F}" type="slidenum">
              <a:rPr lang="tr-TR" smtClean="0"/>
              <a:pPr algn="ctr"/>
              <a:t>25</a:t>
            </a:fld>
            <a:endParaRPr lang="tr-TR"/>
          </a:p>
        </p:txBody>
      </p:sp>
      <p:sp>
        <p:nvSpPr>
          <p:cNvPr id="6" name="Başlık 5">
            <a:extLst>
              <a:ext uri="{FF2B5EF4-FFF2-40B4-BE49-F238E27FC236}">
                <a16:creationId xmlns:a16="http://schemas.microsoft.com/office/drawing/2014/main" id="{7D66A3BD-9B35-4B98-A31C-CEB1193B179E}"/>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124239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C8DE142-9944-63C5-3A50-59C6CD93C089}"/>
              </a:ext>
            </a:extLst>
          </p:cNvPr>
          <p:cNvSpPr>
            <a:spLocks noGrp="1"/>
          </p:cNvSpPr>
          <p:nvPr>
            <p:ph idx="1"/>
          </p:nvPr>
        </p:nvSpPr>
        <p:spPr/>
        <p:txBody>
          <a:bodyPr vert="horz" lIns="91440" tIns="45720" rIns="91440" bIns="45720" rtlCol="0" anchor="t">
            <a:normAutofit fontScale="92500" lnSpcReduction="20000"/>
          </a:bodyPr>
          <a:lstStyle/>
          <a:p>
            <a:pPr algn="just"/>
            <a:r>
              <a:rPr lang="tr-TR">
                <a:ea typeface="+mn-lt"/>
                <a:cs typeface="+mn-lt"/>
              </a:rPr>
              <a:t>Devlin, J., Chang, M.-W., Lee, K., &amp; Toutanova, K. (2019). BERT: Pre-training of deep bidirectional transformers for language understanding. In Proceedings of the 2019 Conference of the North American Chapter of the Association for Computational Linguistics: Human Language Technologies, Volume 1 (Long and Short Papers) (pp. 4171-4186). Association for Computational Linguistics. </a:t>
            </a:r>
            <a:r>
              <a:rPr lang="tr-TR" dirty="0">
                <a:ea typeface="+mn-lt"/>
                <a:cs typeface="+mn-lt"/>
                <a:hlinkClick r:id="rId2"/>
              </a:rPr>
              <a:t>https://doi.org/10.18653/v1/N19-1423</a:t>
            </a:r>
            <a:endParaRPr lang="tr-TR"/>
          </a:p>
          <a:p>
            <a:pPr algn="just"/>
            <a:r>
              <a:rPr lang="tr-TR">
                <a:ea typeface="+mn-lt"/>
                <a:cs typeface="+mn-lt"/>
              </a:rPr>
              <a:t>Gugnani, A., &amp; Misra, H. (2020). Implicit skills extraction from job postings using BERT. arXiv. </a:t>
            </a:r>
            <a:r>
              <a:rPr lang="tr-TR" dirty="0">
                <a:ea typeface="+mn-lt"/>
                <a:cs typeface="+mn-lt"/>
                <a:hlinkClick r:id="rId3"/>
              </a:rPr>
              <a:t>https://doi.org/10.48550/arXiv.2009.12263</a:t>
            </a:r>
            <a:endParaRPr lang="tr-TR"/>
          </a:p>
          <a:p>
            <a:pPr algn="just"/>
            <a:r>
              <a:rPr lang="tr-TR">
                <a:ea typeface="+mn-lt"/>
                <a:cs typeface="+mn-lt"/>
              </a:rPr>
              <a:t>Kopparapu, S. K. (2010). Automatic extraction of usable information from unstructured resumes to aid search. In Proceedings of the 2010 IEEE International Conference on Service-Oriented Computing and Applications (pp. 99-103). IEEE. </a:t>
            </a:r>
            <a:r>
              <a:rPr lang="tr-TR" dirty="0">
                <a:ea typeface="+mn-lt"/>
                <a:cs typeface="+mn-lt"/>
                <a:hlinkClick r:id="rId4"/>
              </a:rPr>
              <a:t>https://doi.org/10.1109/SOCA.2010.5704161</a:t>
            </a:r>
            <a:endParaRPr lang="tr-TR"/>
          </a:p>
          <a:p>
            <a:pPr algn="just"/>
            <a:r>
              <a:rPr lang="tr-TR">
                <a:ea typeface="+mn-lt"/>
                <a:cs typeface="+mn-lt"/>
              </a:rPr>
              <a:t>Lewis, P., Perez, E., Piktus, A., Petroni, F., Karpukhin, V., Goyal, N., Küttler, H., Lewis, M., Yih, W.-t., Rocktäschel, T., Riedel, S., &amp; Kiela, D. (2020). Retrieval-augmented generation for knowledge-intensive NLP tasks. Advances in Neural Information Processing Systems, 33, 9459-9474.</a:t>
            </a:r>
            <a:endParaRPr lang="tr-TR"/>
          </a:p>
          <a:p>
            <a:pPr algn="just"/>
            <a:endParaRPr lang="tr-TR" dirty="0"/>
          </a:p>
        </p:txBody>
      </p:sp>
      <p:sp>
        <p:nvSpPr>
          <p:cNvPr id="3" name="Veri Yer Tutucusu 2">
            <a:extLst>
              <a:ext uri="{FF2B5EF4-FFF2-40B4-BE49-F238E27FC236}">
                <a16:creationId xmlns:a16="http://schemas.microsoft.com/office/drawing/2014/main" id="{4363106C-CF6D-E8C5-F963-21E4876E689C}"/>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12175C31-475B-9C3F-89CA-5359A71D5D05}"/>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F7C019B4-95C2-FF16-62D9-4812A4120E9B}"/>
              </a:ext>
            </a:extLst>
          </p:cNvPr>
          <p:cNvSpPr>
            <a:spLocks noGrp="1"/>
          </p:cNvSpPr>
          <p:nvPr>
            <p:ph type="sldNum" sz="quarter" idx="12"/>
          </p:nvPr>
        </p:nvSpPr>
        <p:spPr/>
        <p:txBody>
          <a:bodyPr/>
          <a:lstStyle/>
          <a:p>
            <a:pPr algn="ctr"/>
            <a:fld id="{761DAA7D-07E7-4CC9-A173-94FF02D0AC1F}" type="slidenum">
              <a:rPr lang="tr-TR" smtClean="0"/>
              <a:pPr algn="ctr"/>
              <a:t>26</a:t>
            </a:fld>
            <a:endParaRPr lang="tr-TR"/>
          </a:p>
        </p:txBody>
      </p:sp>
      <p:sp>
        <p:nvSpPr>
          <p:cNvPr id="6" name="Başlık 5">
            <a:extLst>
              <a:ext uri="{FF2B5EF4-FFF2-40B4-BE49-F238E27FC236}">
                <a16:creationId xmlns:a16="http://schemas.microsoft.com/office/drawing/2014/main" id="{85424ED5-65CC-CBBD-FB95-A09B42131CE7}"/>
              </a:ext>
            </a:extLst>
          </p:cNvPr>
          <p:cNvSpPr>
            <a:spLocks noGrp="1"/>
          </p:cNvSpPr>
          <p:nvPr>
            <p:ph type="title"/>
          </p:nvPr>
        </p:nvSpPr>
        <p:spPr/>
        <p:txBody>
          <a:bodyPr/>
          <a:lstStyle/>
          <a:p>
            <a:r>
              <a:rPr lang="tr-TR"/>
              <a:t>11. Kaynakça : </a:t>
            </a:r>
          </a:p>
        </p:txBody>
      </p:sp>
    </p:spTree>
    <p:extLst>
      <p:ext uri="{BB962C8B-B14F-4D97-AF65-F5344CB8AC3E}">
        <p14:creationId xmlns:p14="http://schemas.microsoft.com/office/powerpoint/2010/main" val="943576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16845F0-F406-5733-A601-593421ECC020}"/>
              </a:ext>
            </a:extLst>
          </p:cNvPr>
          <p:cNvSpPr>
            <a:spLocks noGrp="1"/>
          </p:cNvSpPr>
          <p:nvPr>
            <p:ph idx="1"/>
          </p:nvPr>
        </p:nvSpPr>
        <p:spPr/>
        <p:txBody>
          <a:bodyPr vert="horz" lIns="91440" tIns="45720" rIns="91440" bIns="45720" rtlCol="0" anchor="t">
            <a:normAutofit/>
          </a:bodyPr>
          <a:lstStyle/>
          <a:p>
            <a:r>
              <a:rPr lang="tr-TR">
                <a:ea typeface="+mn-lt"/>
                <a:cs typeface="+mn-lt"/>
              </a:rPr>
              <a:t>Maheshwary, S., &amp; Misra, H. (2018). Matching resumes to jobs via deep siamese network. In Companion Proceedings of the The Web Conference 2018 (pp. 1559-1566). Geneva, Switzerland: International World Wide Web Conferences Steering Committee. </a:t>
            </a:r>
            <a:r>
              <a:rPr lang="tr-TR" dirty="0">
                <a:ea typeface="+mn-lt"/>
                <a:cs typeface="+mn-lt"/>
                <a:hlinkClick r:id="rId2"/>
              </a:rPr>
              <a:t>https://doi.org/10.1145/3184558.3192300</a:t>
            </a:r>
          </a:p>
          <a:p>
            <a:r>
              <a:rPr lang="tr-TR">
                <a:ea typeface="+mn-lt"/>
                <a:cs typeface="+mn-lt"/>
              </a:rPr>
              <a:t>MongoDB Inc. (2024). MongoDB manual. https://www.mongodb.com/docs/manual/ (Son erişim tarihi: 29 Mart 2026).</a:t>
            </a:r>
            <a:endParaRPr lang="tr-TR" dirty="0">
              <a:ea typeface="+mn-lt"/>
              <a:cs typeface="+mn-lt"/>
            </a:endParaRPr>
          </a:p>
          <a:p>
            <a:r>
              <a:rPr lang="tr-TR">
                <a:ea typeface="+mn-lt"/>
                <a:cs typeface="+mn-lt"/>
              </a:rPr>
              <a:t>Qin, C., Zhu, H., Xu, T., Zhuang, F., Ma, E., Zhang, M., Guo, J., &amp; Xiong, H. (2018). Enhancing person-job fit for talent recruitment: An ability-aware neural network approach. In The 41st International ACM SIGIR Conference on Research &amp; Development in Information Retrieval (pp. 683-692). New York, NY: Association for Computing Machinery. https://doi.org/10.1145/3209978.3210087</a:t>
            </a:r>
            <a:endParaRPr lang="tr-TR"/>
          </a:p>
        </p:txBody>
      </p:sp>
      <p:sp>
        <p:nvSpPr>
          <p:cNvPr id="3" name="Veri Yer Tutucusu 2">
            <a:extLst>
              <a:ext uri="{FF2B5EF4-FFF2-40B4-BE49-F238E27FC236}">
                <a16:creationId xmlns:a16="http://schemas.microsoft.com/office/drawing/2014/main" id="{6E553836-1ABE-8291-3DA2-13BAFA8C468B}"/>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18494CDF-AF72-3873-1FA2-700B6ECCE755}"/>
              </a:ext>
            </a:extLst>
          </p:cNvPr>
          <p:cNvSpPr>
            <a:spLocks noGrp="1"/>
          </p:cNvSpPr>
          <p:nvPr>
            <p:ph type="ftr" sz="quarter" idx="11"/>
          </p:nvPr>
        </p:nvSpPr>
        <p:spPr/>
        <p:txBody>
          <a:bodyPr/>
          <a:lstStyle/>
          <a:p>
            <a:r>
              <a:rPr lang="tr-TR">
                <a:ea typeface="+mn-lt"/>
                <a:cs typeface="+mn-lt"/>
              </a:rPr>
              <a:t>Öğrenci Adı Soyadı :    Azra Kaya                                                                            Öğrenci Numarası: 2112721005 </a:t>
            </a:r>
          </a:p>
        </p:txBody>
      </p:sp>
      <p:sp>
        <p:nvSpPr>
          <p:cNvPr id="5" name="Slayt Numarası Yer Tutucusu 4">
            <a:extLst>
              <a:ext uri="{FF2B5EF4-FFF2-40B4-BE49-F238E27FC236}">
                <a16:creationId xmlns:a16="http://schemas.microsoft.com/office/drawing/2014/main" id="{B9D3F74D-EFA4-9CFE-829D-670FD21BF03F}"/>
              </a:ext>
            </a:extLst>
          </p:cNvPr>
          <p:cNvSpPr>
            <a:spLocks noGrp="1"/>
          </p:cNvSpPr>
          <p:nvPr>
            <p:ph type="sldNum" sz="quarter" idx="12"/>
          </p:nvPr>
        </p:nvSpPr>
        <p:spPr/>
        <p:txBody>
          <a:bodyPr/>
          <a:lstStyle/>
          <a:p>
            <a:pPr algn="ctr"/>
            <a:fld id="{761DAA7D-07E7-4CC9-A173-94FF02D0AC1F}" type="slidenum">
              <a:rPr lang="tr-TR" smtClean="0"/>
              <a:pPr algn="ctr"/>
              <a:t>27</a:t>
            </a:fld>
            <a:endParaRPr lang="tr-TR"/>
          </a:p>
        </p:txBody>
      </p:sp>
      <p:sp>
        <p:nvSpPr>
          <p:cNvPr id="6" name="Başlık 5">
            <a:extLst>
              <a:ext uri="{FF2B5EF4-FFF2-40B4-BE49-F238E27FC236}">
                <a16:creationId xmlns:a16="http://schemas.microsoft.com/office/drawing/2014/main" id="{9F143A18-A765-3624-0D0A-DF1897E7D39B}"/>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713266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D145BC0A-24B7-A25B-4E4F-E8430BCF316D}"/>
              </a:ext>
            </a:extLst>
          </p:cNvPr>
          <p:cNvSpPr>
            <a:spLocks noGrp="1"/>
          </p:cNvSpPr>
          <p:nvPr>
            <p:ph idx="1"/>
          </p:nvPr>
        </p:nvSpPr>
        <p:spPr/>
        <p:txBody>
          <a:bodyPr vert="horz" lIns="91440" tIns="45720" rIns="91440" bIns="45720" rtlCol="0" anchor="t">
            <a:normAutofit/>
          </a:bodyPr>
          <a:lstStyle/>
          <a:p>
            <a:r>
              <a:rPr lang="tr-TR">
                <a:ea typeface="+mn-lt"/>
                <a:cs typeface="+mn-lt"/>
              </a:rPr>
              <a:t>Ramírez, S. (2024). FastAPI [Computer software]. </a:t>
            </a:r>
            <a:r>
              <a:rPr lang="tr-TR">
                <a:ea typeface="+mn-lt"/>
                <a:cs typeface="+mn-lt"/>
                <a:hlinkClick r:id="rId2"/>
              </a:rPr>
              <a:t>https://fastapi.tiangolo.com</a:t>
            </a:r>
            <a:r>
              <a:rPr lang="tr-TR">
                <a:ea typeface="+mn-lt"/>
                <a:cs typeface="+mn-lt"/>
              </a:rPr>
              <a:t> </a:t>
            </a:r>
            <a:endParaRPr lang="tr-TR"/>
          </a:p>
          <a:p>
            <a:r>
              <a:rPr lang="tr-TR">
                <a:ea typeface="+mn-lt"/>
                <a:cs typeface="+mn-lt"/>
              </a:rPr>
              <a:t>Reimers, N., &amp; Gurevych, I. (2019). Sentence-BERT: Sentence embeddings using Siamese BERT-networks. In Proceedings of the 2019 Conference on Empirical Methods in Natural Language Processing and the 9th International Joint Conference on Natural Language Processing (EMNLP-IJCNLP) (pp. 3982-3992). Hong Kong, China: Association for Computational Linguistics. </a:t>
            </a:r>
            <a:r>
              <a:rPr lang="tr-TR" dirty="0">
                <a:ea typeface="+mn-lt"/>
                <a:cs typeface="+mn-lt"/>
                <a:hlinkClick r:id="rId3"/>
              </a:rPr>
              <a:t>https://doi.org/10.18653/v1/D19-1410</a:t>
            </a:r>
            <a:endParaRPr lang="tr-TR">
              <a:ea typeface="+mn-lt"/>
              <a:cs typeface="+mn-lt"/>
            </a:endParaRPr>
          </a:p>
          <a:p>
            <a:r>
              <a:rPr lang="tr-TR">
                <a:ea typeface="+mn-lt"/>
                <a:cs typeface="+mn-lt"/>
              </a:rPr>
              <a:t>Raffel, C., Shazeer, N., Roberts, A., Lee, K., Narang, S., Matena, M., Zhou, Y., Li, W., &amp; Liu, P. J. (2020). Exploring the limits of transfer learning with a unified text-to-text transformer. Journal of Machine Learning Research, 21(140), 1-67.</a:t>
            </a:r>
            <a:endParaRPr lang="tr-TR" dirty="0"/>
          </a:p>
        </p:txBody>
      </p:sp>
      <p:sp>
        <p:nvSpPr>
          <p:cNvPr id="3" name="Veri Yer Tutucusu 2">
            <a:extLst>
              <a:ext uri="{FF2B5EF4-FFF2-40B4-BE49-F238E27FC236}">
                <a16:creationId xmlns:a16="http://schemas.microsoft.com/office/drawing/2014/main" id="{10997FD2-F3F7-ACF7-9952-8E646EBD2373}"/>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D2EAFC59-CD21-2156-DB48-A1B119951633}"/>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3A658BEC-1AA7-0702-3DEA-EC0A8BAF97AD}"/>
              </a:ext>
            </a:extLst>
          </p:cNvPr>
          <p:cNvSpPr>
            <a:spLocks noGrp="1"/>
          </p:cNvSpPr>
          <p:nvPr>
            <p:ph type="sldNum" sz="quarter" idx="12"/>
          </p:nvPr>
        </p:nvSpPr>
        <p:spPr/>
        <p:txBody>
          <a:bodyPr/>
          <a:lstStyle/>
          <a:p>
            <a:pPr algn="ctr"/>
            <a:fld id="{761DAA7D-07E7-4CC9-A173-94FF02D0AC1F}" type="slidenum">
              <a:rPr lang="tr-TR" smtClean="0"/>
              <a:pPr algn="ctr"/>
              <a:t>28</a:t>
            </a:fld>
            <a:endParaRPr lang="tr-TR"/>
          </a:p>
        </p:txBody>
      </p:sp>
      <p:sp>
        <p:nvSpPr>
          <p:cNvPr id="6" name="Başlık 5">
            <a:extLst>
              <a:ext uri="{FF2B5EF4-FFF2-40B4-BE49-F238E27FC236}">
                <a16:creationId xmlns:a16="http://schemas.microsoft.com/office/drawing/2014/main" id="{1013A135-82D6-E9A6-F4D2-D94E6765FB34}"/>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749271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3B7C8AD2-E22D-D147-E704-36359CD2B0CB}"/>
              </a:ext>
            </a:extLst>
          </p:cNvPr>
          <p:cNvSpPr>
            <a:spLocks noGrp="1"/>
          </p:cNvSpPr>
          <p:nvPr>
            <p:ph idx="1"/>
          </p:nvPr>
        </p:nvSpPr>
        <p:spPr/>
        <p:txBody>
          <a:bodyPr vert="horz" lIns="91440" tIns="45720" rIns="91440" bIns="45720" rtlCol="0" anchor="t">
            <a:normAutofit/>
          </a:bodyPr>
          <a:lstStyle/>
          <a:p>
            <a:pPr marL="285750" indent="-285750"/>
            <a:r>
              <a:rPr lang="tr-TR">
                <a:ea typeface="+mn-lt"/>
                <a:cs typeface="+mn-lt"/>
              </a:rPr>
              <a:t>Roy, P. K., Chowdhary, S. S., &amp; Bhatia, R. (2020). A machine learning approach for automation of resume recommendation system. Procedia Computer Science, 167, 2318-2327. </a:t>
            </a:r>
            <a:r>
              <a:rPr lang="tr-TR" dirty="0">
                <a:ea typeface="+mn-lt"/>
                <a:cs typeface="+mn-lt"/>
                <a:hlinkClick r:id="rId2"/>
              </a:rPr>
              <a:t>https://doi.org/10.1016/j.procs.2020.03.279</a:t>
            </a:r>
            <a:r>
              <a:rPr lang="tr-TR" dirty="0">
                <a:ea typeface="+mn-lt"/>
                <a:cs typeface="+mn-lt"/>
              </a:rPr>
              <a:t> </a:t>
            </a:r>
          </a:p>
          <a:p>
            <a:r>
              <a:rPr lang="tr-TR">
                <a:ea typeface="+mn-lt"/>
                <a:cs typeface="+mn-lt"/>
              </a:rPr>
              <a:t>Schweter, S. (2020). BERTurk – BERT models for Turkish [Data set]. Zenodo. </a:t>
            </a:r>
            <a:r>
              <a:rPr lang="tr-TR" dirty="0">
                <a:ea typeface="+mn-lt"/>
                <a:cs typeface="+mn-lt"/>
                <a:hlinkClick r:id="rId3"/>
              </a:rPr>
              <a:t>https://doi.org/10.5281/zenodo.3770924</a:t>
            </a:r>
            <a:endParaRPr lang="tr-TR"/>
          </a:p>
          <a:p>
            <a:r>
              <a:rPr lang="tr-TR">
                <a:ea typeface="+mn-lt"/>
                <a:cs typeface="+mn-lt"/>
              </a:rPr>
              <a:t>Zu, C., Yu, J., Li, B., &amp; Tang, S. (2019). Resume information extraction with a novel text block segmentation algorithm. International Journal of Machine Learning and Cybernetics, 10(7), 1805-1816. https://doi.org/10.1007/s13042-018-0827-4</a:t>
            </a:r>
            <a:endParaRPr lang="tr-TR"/>
          </a:p>
        </p:txBody>
      </p:sp>
      <p:sp>
        <p:nvSpPr>
          <p:cNvPr id="3" name="Veri Yer Tutucusu 2">
            <a:extLst>
              <a:ext uri="{FF2B5EF4-FFF2-40B4-BE49-F238E27FC236}">
                <a16:creationId xmlns:a16="http://schemas.microsoft.com/office/drawing/2014/main" id="{36CA36A7-B19B-0076-001B-BE5A5453D3B3}"/>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C7DCFC8E-8CE5-C513-720A-9FB06DA4C8AA}"/>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6F48F93E-42C5-42CC-045C-6D07A362DAC9}"/>
              </a:ext>
            </a:extLst>
          </p:cNvPr>
          <p:cNvSpPr>
            <a:spLocks noGrp="1"/>
          </p:cNvSpPr>
          <p:nvPr>
            <p:ph type="sldNum" sz="quarter" idx="12"/>
          </p:nvPr>
        </p:nvSpPr>
        <p:spPr/>
        <p:txBody>
          <a:bodyPr/>
          <a:lstStyle/>
          <a:p>
            <a:pPr algn="ctr"/>
            <a:fld id="{761DAA7D-07E7-4CC9-A173-94FF02D0AC1F}" type="slidenum">
              <a:rPr lang="tr-TR" smtClean="0"/>
              <a:pPr algn="ctr"/>
              <a:t>29</a:t>
            </a:fld>
            <a:endParaRPr lang="tr-TR"/>
          </a:p>
        </p:txBody>
      </p:sp>
      <p:sp>
        <p:nvSpPr>
          <p:cNvPr id="6" name="Başlık 5">
            <a:extLst>
              <a:ext uri="{FF2B5EF4-FFF2-40B4-BE49-F238E27FC236}">
                <a16:creationId xmlns:a16="http://schemas.microsoft.com/office/drawing/2014/main" id="{C7FFF1DB-D81A-EFD0-4BA3-CB0D8C0E8188}"/>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297615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ri Yer Tutucusu 2">
            <a:extLst>
              <a:ext uri="{FF2B5EF4-FFF2-40B4-BE49-F238E27FC236}">
                <a16:creationId xmlns:a16="http://schemas.microsoft.com/office/drawing/2014/main" id="{6D202BD3-98CB-F54F-F2BD-B6E6575B7BF7}"/>
              </a:ext>
            </a:extLst>
          </p:cNvPr>
          <p:cNvSpPr>
            <a:spLocks noGrp="1"/>
          </p:cNvSpPr>
          <p:nvPr>
            <p:ph type="dt" sz="half" idx="10"/>
          </p:nvPr>
        </p:nvSpPr>
        <p:spPr/>
        <p:txBody>
          <a:bodyPr/>
          <a:lstStyle/>
          <a:p>
            <a:fld id="{C24930F2-597B-42F3-A810-4D45ACD544C7}" type="datetime1">
              <a:rPr lang="tr-TR" smtClean="0"/>
              <a:t>2.04.2026</a:t>
            </a:fld>
            <a:endParaRPr lang="tr-TR"/>
          </a:p>
        </p:txBody>
      </p:sp>
      <p:sp>
        <p:nvSpPr>
          <p:cNvPr id="4" name="Alt Bilgi Yer Tutucusu 3">
            <a:extLst>
              <a:ext uri="{FF2B5EF4-FFF2-40B4-BE49-F238E27FC236}">
                <a16:creationId xmlns:a16="http://schemas.microsoft.com/office/drawing/2014/main" id="{296151E0-58E7-6860-556C-BF273E859949}"/>
              </a:ext>
            </a:extLst>
          </p:cNvPr>
          <p:cNvSpPr>
            <a:spLocks noGrp="1"/>
          </p:cNvSpPr>
          <p:nvPr>
            <p:ph type="ftr" sz="quarter" idx="11"/>
          </p:nvPr>
        </p:nvSpPr>
        <p:spPr/>
        <p:txBody>
          <a:bodyPr/>
          <a:lstStyle/>
          <a:p>
            <a:r>
              <a:rPr lang="tr-TR">
                <a:ea typeface="+mn-lt"/>
                <a:cs typeface="+mn-lt"/>
              </a:rPr>
              <a:t>Öğrenci Adı Soyadı :    Azra Kaya                                                                            Öğrenci Numarası: 2112721005 </a:t>
            </a:r>
            <a:endParaRPr lang="tr-TR"/>
          </a:p>
        </p:txBody>
      </p:sp>
      <p:sp>
        <p:nvSpPr>
          <p:cNvPr id="5" name="Slayt Numarası Yer Tutucusu 4">
            <a:extLst>
              <a:ext uri="{FF2B5EF4-FFF2-40B4-BE49-F238E27FC236}">
                <a16:creationId xmlns:a16="http://schemas.microsoft.com/office/drawing/2014/main" id="{128BBE01-2DD3-12D7-9B99-76C3B2BC59EE}"/>
              </a:ext>
            </a:extLst>
          </p:cNvPr>
          <p:cNvSpPr>
            <a:spLocks noGrp="1"/>
          </p:cNvSpPr>
          <p:nvPr>
            <p:ph type="sldNum" sz="quarter" idx="12"/>
          </p:nvPr>
        </p:nvSpPr>
        <p:spPr/>
        <p:txBody>
          <a:bodyPr/>
          <a:lstStyle/>
          <a:p>
            <a:pPr algn="ctr"/>
            <a:fld id="{761DAA7D-07E7-4CC9-A173-94FF02D0AC1F}" type="slidenum">
              <a:rPr lang="tr-TR" smtClean="0"/>
              <a:pPr algn="ctr"/>
              <a:t>30</a:t>
            </a:fld>
            <a:endParaRPr lang="tr-TR"/>
          </a:p>
        </p:txBody>
      </p:sp>
      <p:sp>
        <p:nvSpPr>
          <p:cNvPr id="6" name="Başlık 5">
            <a:extLst>
              <a:ext uri="{FF2B5EF4-FFF2-40B4-BE49-F238E27FC236}">
                <a16:creationId xmlns:a16="http://schemas.microsoft.com/office/drawing/2014/main" id="{DA9CF527-0B90-C15F-54E0-C80CD8901F93}"/>
              </a:ext>
            </a:extLst>
          </p:cNvPr>
          <p:cNvSpPr>
            <a:spLocks noGrp="1"/>
          </p:cNvSpPr>
          <p:nvPr>
            <p:ph type="title"/>
          </p:nvPr>
        </p:nvSpPr>
        <p:spPr/>
        <p:txBody>
          <a:bodyPr/>
          <a:lstStyle/>
          <a:p>
            <a:r>
              <a:rPr lang="tr-TR"/>
              <a:t>Dinlediğiniz İçin Teşekkürler….</a:t>
            </a:r>
          </a:p>
        </p:txBody>
      </p:sp>
      <p:sp>
        <p:nvSpPr>
          <p:cNvPr id="8" name="İçerik Yer Tutucusu 7">
            <a:extLst>
              <a:ext uri="{FF2B5EF4-FFF2-40B4-BE49-F238E27FC236}">
                <a16:creationId xmlns:a16="http://schemas.microsoft.com/office/drawing/2014/main" id="{0A1B612B-030D-8612-A604-D5F473C1245A}"/>
              </a:ext>
            </a:extLst>
          </p:cNvPr>
          <p:cNvSpPr>
            <a:spLocks noGrp="1"/>
          </p:cNvSpPr>
          <p:nvPr>
            <p:ph idx="1"/>
          </p:nvPr>
        </p:nvSpPr>
        <p:spPr/>
        <p:txBody>
          <a:bodyPr/>
          <a:lstStyle/>
          <a:p>
            <a:endParaRPr lang="tr-TR"/>
          </a:p>
        </p:txBody>
      </p:sp>
    </p:spTree>
    <p:extLst>
      <p:ext uri="{BB962C8B-B14F-4D97-AF65-F5344CB8AC3E}">
        <p14:creationId xmlns:p14="http://schemas.microsoft.com/office/powerpoint/2010/main" val="4250835734"/>
      </p:ext>
    </p:extLst>
  </p:cSld>
  <p:clrMapOvr>
    <a:masterClrMapping/>
  </p:clrMapOvr>
</p:sld>
</file>

<file path=ppt/theme/theme1.xml><?xml version="1.0" encoding="utf-8"?>
<a:theme xmlns:a="http://schemas.openxmlformats.org/drawingml/2006/main" name="Yüzeyler">
  <a:themeElements>
    <a:clrScheme name="Mavi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Yüzeyler">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Yüzeyler">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Proje şablon son hal yönergeli.potx" id="{9B2F9E7B-7FC1-4386-8789-15A074E04359}" vid="{7D123327-A970-4E4C-BDC9-3AB2B9F7504E}"/>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Proje şablon son hal yönergeli2</Template>
  <Application>Microsoft Office PowerPoint</Application>
  <PresentationFormat>Geniş ekran</PresentationFormat>
  <Slides>31</Slides>
  <Notes>1</Notes>
  <HiddenSlides>0</HiddenSlides>
  <ScaleCrop>false</ScaleCrop>
  <HeadingPairs>
    <vt:vector size="4" baseType="variant">
      <vt:variant>
        <vt:lpstr>Tema</vt:lpstr>
      </vt:variant>
      <vt:variant>
        <vt:i4>1</vt:i4>
      </vt:variant>
      <vt:variant>
        <vt:lpstr>Slayt Başlıkları</vt:lpstr>
      </vt:variant>
      <vt:variant>
        <vt:i4>31</vt:i4>
      </vt:variant>
    </vt:vector>
  </HeadingPairs>
  <TitlesOfParts>
    <vt:vector size="32" baseType="lpstr">
      <vt:lpstr>Yüzeyler</vt:lpstr>
      <vt:lpstr>PowerPoint Sunusu</vt:lpstr>
      <vt:lpstr>1. Tezin Amacı :</vt:lpstr>
      <vt:lpstr>PowerPoint Sunusu</vt:lpstr>
      <vt:lpstr>2. Konu ve Kapsam :</vt:lpstr>
      <vt:lpstr>PowerPoint Sunusu</vt:lpstr>
      <vt:lpstr>3. Literatür Özeti : </vt:lpstr>
      <vt:lpstr>PowerPoint Sunusu</vt:lpstr>
      <vt:lpstr>PowerPoint Sunusu</vt:lpstr>
      <vt:lpstr>4. Özgün Değer :</vt:lpstr>
      <vt:lpstr>PowerPoint Sunusu</vt:lpstr>
      <vt:lpstr>5. Yöntem : </vt:lpstr>
      <vt:lpstr>PowerPoint Sunusu</vt:lpstr>
      <vt:lpstr>PowerPoint Sunusu</vt:lpstr>
      <vt:lpstr>6. Araştırma Bulguları ve Tartışma:</vt:lpstr>
      <vt:lpstr>PowerPoint Sunusu</vt:lpstr>
      <vt:lpstr>PowerPoint Sunusu</vt:lpstr>
      <vt:lpstr>PowerPoint Sunusu</vt:lpstr>
      <vt:lpstr>PowerPoint Sunusu</vt:lpstr>
      <vt:lpstr>PowerPoint Sunusu</vt:lpstr>
      <vt:lpstr>7. Sonuç :</vt:lpstr>
      <vt:lpstr>PowerPoint Sunusu</vt:lpstr>
      <vt:lpstr>8. Tez Konusuyla İlgili Araştırma Olanakları : </vt:lpstr>
      <vt:lpstr>9. Yaygın Etki / Katma Değer  :</vt:lpstr>
      <vt:lpstr>10. Çalışma Takvimi :</vt:lpstr>
      <vt:lpstr>PowerPoint Sunusu</vt:lpstr>
      <vt:lpstr>PowerPoint Sunusu</vt:lpstr>
      <vt:lpstr>11. Kaynakça : </vt:lpstr>
      <vt:lpstr>PowerPoint Sunusu</vt:lpstr>
      <vt:lpstr>PowerPoint Sunusu</vt:lpstr>
      <vt:lpstr>PowerPoint Sunusu</vt:lpstr>
      <vt:lpstr>Dinlediğiniz İçin 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Gökay Beslem</dc:creator>
  <cp:revision>322</cp:revision>
  <dcterms:created xsi:type="dcterms:W3CDTF">2026-02-13T13:44:28Z</dcterms:created>
  <dcterms:modified xsi:type="dcterms:W3CDTF">2026-04-02T14:48:27Z</dcterms:modified>
</cp:coreProperties>
</file>